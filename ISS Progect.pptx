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7" r:id="rId2"/>
    <p:sldId id="265" r:id="rId3"/>
    <p:sldId id="267" r:id="rId4"/>
    <p:sldId id="266" r:id="rId5"/>
    <p:sldId id="258" r:id="rId6"/>
    <p:sldId id="260" r:id="rId7"/>
    <p:sldId id="259" r:id="rId8"/>
    <p:sldId id="261" r:id="rId9"/>
    <p:sldId id="262" r:id="rId10"/>
    <p:sldId id="263" r:id="rId11"/>
    <p:sldId id="264" r:id="rId12"/>
    <p:sldId id="272" r:id="rId13"/>
    <p:sldId id="268" r:id="rId14"/>
    <p:sldId id="269" r:id="rId15"/>
    <p:sldId id="270" r:id="rId16"/>
  </p:sldIdLst>
  <p:sldSz cx="12192000" cy="6858000"/>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FBFC"/>
    <a:srgbClr val="8DF2FB"/>
    <a:srgbClr val="8EF4FF"/>
    <a:srgbClr val="82EBF2"/>
    <a:srgbClr val="223748"/>
    <a:srgbClr val="4D8AC3"/>
    <a:srgbClr val="3253A0"/>
    <a:srgbClr val="50719E"/>
    <a:srgbClr val="385786"/>
    <a:srgbClr val="1421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snapToGrid="0">
      <p:cViewPr varScale="1">
        <p:scale>
          <a:sx n="83" d="100"/>
          <a:sy n="83" d="100"/>
        </p:scale>
        <p:origin x="65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A57204E-D0D4-7123-0793-3389769D47AD}"/>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p>
        </p:txBody>
      </p:sp>
      <p:sp>
        <p:nvSpPr>
          <p:cNvPr id="3" name="عنوان فرعي 2">
            <a:extLst>
              <a:ext uri="{FF2B5EF4-FFF2-40B4-BE49-F238E27FC236}">
                <a16:creationId xmlns:a16="http://schemas.microsoft.com/office/drawing/2014/main" id="{90C2DEA7-DD2F-D39D-DE2F-92111F0C87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p>
        </p:txBody>
      </p:sp>
      <p:sp>
        <p:nvSpPr>
          <p:cNvPr id="4" name="عنصر نائب للتاريخ 3">
            <a:extLst>
              <a:ext uri="{FF2B5EF4-FFF2-40B4-BE49-F238E27FC236}">
                <a16:creationId xmlns:a16="http://schemas.microsoft.com/office/drawing/2014/main" id="{62E78180-F0F4-6AA8-4344-DEE5A1C8C1A4}"/>
              </a:ext>
            </a:extLst>
          </p:cNvPr>
          <p:cNvSpPr>
            <a:spLocks noGrp="1"/>
          </p:cNvSpPr>
          <p:nvPr>
            <p:ph type="dt" sz="half" idx="10"/>
          </p:nvPr>
        </p:nvSpPr>
        <p:spPr/>
        <p:txBody>
          <a:bodyPr/>
          <a:lstStyle/>
          <a:p>
            <a:fld id="{D2FE2217-C459-4200-AB8B-69D8D6FFF715}" type="datetimeFigureOut">
              <a:rPr lang="ar-SA" smtClean="0"/>
              <a:t>16/10/1443</a:t>
            </a:fld>
            <a:endParaRPr lang="ar-SA"/>
          </a:p>
        </p:txBody>
      </p:sp>
      <p:sp>
        <p:nvSpPr>
          <p:cNvPr id="5" name="عنصر نائب للتذييل 4">
            <a:extLst>
              <a:ext uri="{FF2B5EF4-FFF2-40B4-BE49-F238E27FC236}">
                <a16:creationId xmlns:a16="http://schemas.microsoft.com/office/drawing/2014/main" id="{B4839783-08EE-03D8-5DB3-3F6E5936C8F0}"/>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1CDAD69C-FBDC-D6BD-BA93-161236516A53}"/>
              </a:ext>
            </a:extLst>
          </p:cNvPr>
          <p:cNvSpPr>
            <a:spLocks noGrp="1"/>
          </p:cNvSpPr>
          <p:nvPr>
            <p:ph type="sldNum" sz="quarter" idx="12"/>
          </p:nvPr>
        </p:nvSpPr>
        <p:spPr/>
        <p:txBody>
          <a:bodyPr/>
          <a:lstStyle/>
          <a:p>
            <a:fld id="{2865A55C-D657-409D-A80F-659963533693}" type="slidenum">
              <a:rPr lang="ar-SA" smtClean="0"/>
              <a:t>‹#›</a:t>
            </a:fld>
            <a:endParaRPr lang="ar-SA"/>
          </a:p>
        </p:txBody>
      </p:sp>
    </p:spTree>
    <p:extLst>
      <p:ext uri="{BB962C8B-B14F-4D97-AF65-F5344CB8AC3E}">
        <p14:creationId xmlns:p14="http://schemas.microsoft.com/office/powerpoint/2010/main" val="3498345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D84EC00-2AB4-9FF1-2257-E6404E38772B}"/>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DDF7C7BE-E2F4-F47F-0B13-55498DFEC19B}"/>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F3CA96AC-189E-9ABB-331F-65E6042C5CC0}"/>
              </a:ext>
            </a:extLst>
          </p:cNvPr>
          <p:cNvSpPr>
            <a:spLocks noGrp="1"/>
          </p:cNvSpPr>
          <p:nvPr>
            <p:ph type="dt" sz="half" idx="10"/>
          </p:nvPr>
        </p:nvSpPr>
        <p:spPr/>
        <p:txBody>
          <a:bodyPr/>
          <a:lstStyle/>
          <a:p>
            <a:fld id="{D2FE2217-C459-4200-AB8B-69D8D6FFF715}" type="datetimeFigureOut">
              <a:rPr lang="ar-SA" smtClean="0"/>
              <a:t>16/10/1443</a:t>
            </a:fld>
            <a:endParaRPr lang="ar-SA"/>
          </a:p>
        </p:txBody>
      </p:sp>
      <p:sp>
        <p:nvSpPr>
          <p:cNvPr id="5" name="عنصر نائب للتذييل 4">
            <a:extLst>
              <a:ext uri="{FF2B5EF4-FFF2-40B4-BE49-F238E27FC236}">
                <a16:creationId xmlns:a16="http://schemas.microsoft.com/office/drawing/2014/main" id="{0FB3EC93-AB23-AA99-D0F6-5F63E9D910B5}"/>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5EC3D48B-1538-6DEE-05D3-D073C7A72536}"/>
              </a:ext>
            </a:extLst>
          </p:cNvPr>
          <p:cNvSpPr>
            <a:spLocks noGrp="1"/>
          </p:cNvSpPr>
          <p:nvPr>
            <p:ph type="sldNum" sz="quarter" idx="12"/>
          </p:nvPr>
        </p:nvSpPr>
        <p:spPr/>
        <p:txBody>
          <a:bodyPr/>
          <a:lstStyle/>
          <a:p>
            <a:fld id="{2865A55C-D657-409D-A80F-659963533693}" type="slidenum">
              <a:rPr lang="ar-SA" smtClean="0"/>
              <a:t>‹#›</a:t>
            </a:fld>
            <a:endParaRPr lang="ar-SA"/>
          </a:p>
        </p:txBody>
      </p:sp>
    </p:spTree>
    <p:extLst>
      <p:ext uri="{BB962C8B-B14F-4D97-AF65-F5344CB8AC3E}">
        <p14:creationId xmlns:p14="http://schemas.microsoft.com/office/powerpoint/2010/main" val="3193913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A052A668-7797-F756-F1E2-FA9D0E05610B}"/>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6C0866F7-B980-C8DA-9990-AF33CDFF45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71B9C669-21D9-A9D5-4CFF-6DFD9D987D39}"/>
              </a:ext>
            </a:extLst>
          </p:cNvPr>
          <p:cNvSpPr>
            <a:spLocks noGrp="1"/>
          </p:cNvSpPr>
          <p:nvPr>
            <p:ph type="dt" sz="half" idx="10"/>
          </p:nvPr>
        </p:nvSpPr>
        <p:spPr/>
        <p:txBody>
          <a:bodyPr/>
          <a:lstStyle/>
          <a:p>
            <a:fld id="{D2FE2217-C459-4200-AB8B-69D8D6FFF715}" type="datetimeFigureOut">
              <a:rPr lang="ar-SA" smtClean="0"/>
              <a:t>16/10/1443</a:t>
            </a:fld>
            <a:endParaRPr lang="ar-SA"/>
          </a:p>
        </p:txBody>
      </p:sp>
      <p:sp>
        <p:nvSpPr>
          <p:cNvPr id="5" name="عنصر نائب للتذييل 4">
            <a:extLst>
              <a:ext uri="{FF2B5EF4-FFF2-40B4-BE49-F238E27FC236}">
                <a16:creationId xmlns:a16="http://schemas.microsoft.com/office/drawing/2014/main" id="{1F6BC40D-7583-16AC-6831-FD450A696960}"/>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EAFD3585-3216-971F-4EA6-74E9F39A8C42}"/>
              </a:ext>
            </a:extLst>
          </p:cNvPr>
          <p:cNvSpPr>
            <a:spLocks noGrp="1"/>
          </p:cNvSpPr>
          <p:nvPr>
            <p:ph type="sldNum" sz="quarter" idx="12"/>
          </p:nvPr>
        </p:nvSpPr>
        <p:spPr/>
        <p:txBody>
          <a:bodyPr/>
          <a:lstStyle/>
          <a:p>
            <a:fld id="{2865A55C-D657-409D-A80F-659963533693}" type="slidenum">
              <a:rPr lang="ar-SA" smtClean="0"/>
              <a:t>‹#›</a:t>
            </a:fld>
            <a:endParaRPr lang="ar-SA"/>
          </a:p>
        </p:txBody>
      </p:sp>
    </p:spTree>
    <p:extLst>
      <p:ext uri="{BB962C8B-B14F-4D97-AF65-F5344CB8AC3E}">
        <p14:creationId xmlns:p14="http://schemas.microsoft.com/office/powerpoint/2010/main" val="6261313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A6586EE8-361B-E218-6EB2-C1AFD8B2CE12}"/>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9D9D35DB-5F35-2A30-42D3-56C2C19BD512}"/>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a:extLst>
              <a:ext uri="{FF2B5EF4-FFF2-40B4-BE49-F238E27FC236}">
                <a16:creationId xmlns:a16="http://schemas.microsoft.com/office/drawing/2014/main" id="{D8499997-6A67-1046-D8B7-91DE2C39C05C}"/>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a:extLst>
              <a:ext uri="{FF2B5EF4-FFF2-40B4-BE49-F238E27FC236}">
                <a16:creationId xmlns:a16="http://schemas.microsoft.com/office/drawing/2014/main" id="{CAFE08D2-5BCC-5258-E466-9319A9D76B9B}"/>
              </a:ext>
            </a:extLst>
          </p:cNvPr>
          <p:cNvSpPr>
            <a:spLocks noGrp="1"/>
          </p:cNvSpPr>
          <p:nvPr>
            <p:ph type="dt" sz="half" idx="10"/>
          </p:nvPr>
        </p:nvSpPr>
        <p:spPr/>
        <p:txBody>
          <a:bodyPr/>
          <a:lstStyle/>
          <a:p>
            <a:fld id="{D2FE2217-C459-4200-AB8B-69D8D6FFF715}" type="datetimeFigureOut">
              <a:rPr lang="ar-SA" smtClean="0"/>
              <a:t>16/10/1443</a:t>
            </a:fld>
            <a:endParaRPr lang="ar-SA"/>
          </a:p>
        </p:txBody>
      </p:sp>
      <p:sp>
        <p:nvSpPr>
          <p:cNvPr id="6" name="عنصر نائب للتذييل 5">
            <a:extLst>
              <a:ext uri="{FF2B5EF4-FFF2-40B4-BE49-F238E27FC236}">
                <a16:creationId xmlns:a16="http://schemas.microsoft.com/office/drawing/2014/main" id="{B9B82C8E-971C-51B6-7CEF-8E1F18586D75}"/>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B73D19DD-E000-C4AB-183A-BAC799FAFA65}"/>
              </a:ext>
            </a:extLst>
          </p:cNvPr>
          <p:cNvSpPr>
            <a:spLocks noGrp="1"/>
          </p:cNvSpPr>
          <p:nvPr>
            <p:ph type="sldNum" sz="quarter" idx="12"/>
          </p:nvPr>
        </p:nvSpPr>
        <p:spPr/>
        <p:txBody>
          <a:bodyPr/>
          <a:lstStyle/>
          <a:p>
            <a:fld id="{2865A55C-D657-409D-A80F-659963533693}" type="slidenum">
              <a:rPr lang="ar-SA" smtClean="0"/>
              <a:t>‹#›</a:t>
            </a:fld>
            <a:endParaRPr lang="ar-SA"/>
          </a:p>
        </p:txBody>
      </p:sp>
    </p:spTree>
    <p:extLst>
      <p:ext uri="{BB962C8B-B14F-4D97-AF65-F5344CB8AC3E}">
        <p14:creationId xmlns:p14="http://schemas.microsoft.com/office/powerpoint/2010/main" val="37450539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176F564-522C-8EA7-9A1E-B8A97F8F58AC}"/>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81D89881-9133-BE93-1E05-CE18FF0915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06EF324B-F9F3-B5B2-F37D-C6BC7BF4D8A1}"/>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a:extLst>
              <a:ext uri="{FF2B5EF4-FFF2-40B4-BE49-F238E27FC236}">
                <a16:creationId xmlns:a16="http://schemas.microsoft.com/office/drawing/2014/main" id="{8FAD697A-740D-2FF8-B453-FE68D3E695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13D09DDF-B35B-7087-168A-A3E245FB1F9F}"/>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a:extLst>
              <a:ext uri="{FF2B5EF4-FFF2-40B4-BE49-F238E27FC236}">
                <a16:creationId xmlns:a16="http://schemas.microsoft.com/office/drawing/2014/main" id="{0DCEB5C8-4FF7-7011-2672-00700EC8B362}"/>
              </a:ext>
            </a:extLst>
          </p:cNvPr>
          <p:cNvSpPr>
            <a:spLocks noGrp="1"/>
          </p:cNvSpPr>
          <p:nvPr>
            <p:ph type="dt" sz="half" idx="10"/>
          </p:nvPr>
        </p:nvSpPr>
        <p:spPr/>
        <p:txBody>
          <a:bodyPr/>
          <a:lstStyle/>
          <a:p>
            <a:fld id="{D2FE2217-C459-4200-AB8B-69D8D6FFF715}" type="datetimeFigureOut">
              <a:rPr lang="ar-SA" smtClean="0"/>
              <a:t>16/10/1443</a:t>
            </a:fld>
            <a:endParaRPr lang="ar-SA"/>
          </a:p>
        </p:txBody>
      </p:sp>
      <p:sp>
        <p:nvSpPr>
          <p:cNvPr id="8" name="عنصر نائب للتذييل 7">
            <a:extLst>
              <a:ext uri="{FF2B5EF4-FFF2-40B4-BE49-F238E27FC236}">
                <a16:creationId xmlns:a16="http://schemas.microsoft.com/office/drawing/2014/main" id="{6A088B76-7FBD-9EDD-A26B-73666C416224}"/>
              </a:ext>
            </a:extLst>
          </p:cNvPr>
          <p:cNvSpPr>
            <a:spLocks noGrp="1"/>
          </p:cNvSpPr>
          <p:nvPr>
            <p:ph type="ftr" sz="quarter" idx="11"/>
          </p:nvPr>
        </p:nvSpPr>
        <p:spPr/>
        <p:txBody>
          <a:bodyPr/>
          <a:lstStyle/>
          <a:p>
            <a:endParaRPr lang="ar-SA"/>
          </a:p>
        </p:txBody>
      </p:sp>
      <p:sp>
        <p:nvSpPr>
          <p:cNvPr id="9" name="عنصر نائب لرقم الشريحة 8">
            <a:extLst>
              <a:ext uri="{FF2B5EF4-FFF2-40B4-BE49-F238E27FC236}">
                <a16:creationId xmlns:a16="http://schemas.microsoft.com/office/drawing/2014/main" id="{0646D6BC-E5BA-83A8-B974-25E05F3F60C8}"/>
              </a:ext>
            </a:extLst>
          </p:cNvPr>
          <p:cNvSpPr>
            <a:spLocks noGrp="1"/>
          </p:cNvSpPr>
          <p:nvPr>
            <p:ph type="sldNum" sz="quarter" idx="12"/>
          </p:nvPr>
        </p:nvSpPr>
        <p:spPr/>
        <p:txBody>
          <a:bodyPr/>
          <a:lstStyle/>
          <a:p>
            <a:fld id="{2865A55C-D657-409D-A80F-659963533693}" type="slidenum">
              <a:rPr lang="ar-SA" smtClean="0"/>
              <a:t>‹#›</a:t>
            </a:fld>
            <a:endParaRPr lang="ar-SA"/>
          </a:p>
        </p:txBody>
      </p:sp>
    </p:spTree>
    <p:extLst>
      <p:ext uri="{BB962C8B-B14F-4D97-AF65-F5344CB8AC3E}">
        <p14:creationId xmlns:p14="http://schemas.microsoft.com/office/powerpoint/2010/main" val="972432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344126E-B415-B1F1-BA9A-700B25EE61C3}"/>
              </a:ext>
            </a:extLst>
          </p:cNvPr>
          <p:cNvSpPr>
            <a:spLocks noGrp="1"/>
          </p:cNvSpPr>
          <p:nvPr>
            <p:ph type="title"/>
          </p:nvPr>
        </p:nvSpPr>
        <p:spPr/>
        <p:txBody>
          <a:bodyPr/>
          <a:lstStyle/>
          <a:p>
            <a:r>
              <a:rPr lang="ar-SA"/>
              <a:t>انقر لتحرير نمط عنوان الشكل الرئيسي</a:t>
            </a:r>
          </a:p>
        </p:txBody>
      </p:sp>
      <p:sp>
        <p:nvSpPr>
          <p:cNvPr id="3" name="عنصر نائب للتاريخ 2">
            <a:extLst>
              <a:ext uri="{FF2B5EF4-FFF2-40B4-BE49-F238E27FC236}">
                <a16:creationId xmlns:a16="http://schemas.microsoft.com/office/drawing/2014/main" id="{E27506D0-A852-BDAF-CF63-23C1E5E167E7}"/>
              </a:ext>
            </a:extLst>
          </p:cNvPr>
          <p:cNvSpPr>
            <a:spLocks noGrp="1"/>
          </p:cNvSpPr>
          <p:nvPr>
            <p:ph type="dt" sz="half" idx="10"/>
          </p:nvPr>
        </p:nvSpPr>
        <p:spPr/>
        <p:txBody>
          <a:bodyPr/>
          <a:lstStyle/>
          <a:p>
            <a:fld id="{D2FE2217-C459-4200-AB8B-69D8D6FFF715}" type="datetimeFigureOut">
              <a:rPr lang="ar-SA" smtClean="0"/>
              <a:t>16/10/1443</a:t>
            </a:fld>
            <a:endParaRPr lang="ar-SA"/>
          </a:p>
        </p:txBody>
      </p:sp>
      <p:sp>
        <p:nvSpPr>
          <p:cNvPr id="4" name="عنصر نائب للتذييل 3">
            <a:extLst>
              <a:ext uri="{FF2B5EF4-FFF2-40B4-BE49-F238E27FC236}">
                <a16:creationId xmlns:a16="http://schemas.microsoft.com/office/drawing/2014/main" id="{1BA59AAC-E081-38C4-21A9-1B02A87CEA91}"/>
              </a:ext>
            </a:extLst>
          </p:cNvPr>
          <p:cNvSpPr>
            <a:spLocks noGrp="1"/>
          </p:cNvSpPr>
          <p:nvPr>
            <p:ph type="ftr" sz="quarter" idx="11"/>
          </p:nvPr>
        </p:nvSpPr>
        <p:spPr/>
        <p:txBody>
          <a:bodyPr/>
          <a:lstStyle/>
          <a:p>
            <a:endParaRPr lang="ar-SA"/>
          </a:p>
        </p:txBody>
      </p:sp>
      <p:sp>
        <p:nvSpPr>
          <p:cNvPr id="5" name="عنصر نائب لرقم الشريحة 4">
            <a:extLst>
              <a:ext uri="{FF2B5EF4-FFF2-40B4-BE49-F238E27FC236}">
                <a16:creationId xmlns:a16="http://schemas.microsoft.com/office/drawing/2014/main" id="{D906F4BE-538E-3FCD-495D-F28564741A9E}"/>
              </a:ext>
            </a:extLst>
          </p:cNvPr>
          <p:cNvSpPr>
            <a:spLocks noGrp="1"/>
          </p:cNvSpPr>
          <p:nvPr>
            <p:ph type="sldNum" sz="quarter" idx="12"/>
          </p:nvPr>
        </p:nvSpPr>
        <p:spPr/>
        <p:txBody>
          <a:bodyPr/>
          <a:lstStyle/>
          <a:p>
            <a:fld id="{2865A55C-D657-409D-A80F-659963533693}" type="slidenum">
              <a:rPr lang="ar-SA" smtClean="0"/>
              <a:t>‹#›</a:t>
            </a:fld>
            <a:endParaRPr lang="ar-SA"/>
          </a:p>
        </p:txBody>
      </p:sp>
    </p:spTree>
    <p:extLst>
      <p:ext uri="{BB962C8B-B14F-4D97-AF65-F5344CB8AC3E}">
        <p14:creationId xmlns:p14="http://schemas.microsoft.com/office/powerpoint/2010/main" val="1548421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69D0E707-3C9B-A739-3040-FB96B9C3CFC9}"/>
              </a:ext>
            </a:extLst>
          </p:cNvPr>
          <p:cNvSpPr>
            <a:spLocks noGrp="1"/>
          </p:cNvSpPr>
          <p:nvPr>
            <p:ph type="dt" sz="half" idx="10"/>
          </p:nvPr>
        </p:nvSpPr>
        <p:spPr/>
        <p:txBody>
          <a:bodyPr/>
          <a:lstStyle/>
          <a:p>
            <a:fld id="{D2FE2217-C459-4200-AB8B-69D8D6FFF715}" type="datetimeFigureOut">
              <a:rPr lang="ar-SA" smtClean="0"/>
              <a:t>16/10/1443</a:t>
            </a:fld>
            <a:endParaRPr lang="ar-SA"/>
          </a:p>
        </p:txBody>
      </p:sp>
      <p:sp>
        <p:nvSpPr>
          <p:cNvPr id="3" name="عنصر نائب للتذييل 2">
            <a:extLst>
              <a:ext uri="{FF2B5EF4-FFF2-40B4-BE49-F238E27FC236}">
                <a16:creationId xmlns:a16="http://schemas.microsoft.com/office/drawing/2014/main" id="{9DE4BD18-1FA2-5047-C768-0938A82E1D03}"/>
              </a:ext>
            </a:extLst>
          </p:cNvPr>
          <p:cNvSpPr>
            <a:spLocks noGrp="1"/>
          </p:cNvSpPr>
          <p:nvPr>
            <p:ph type="ftr" sz="quarter" idx="11"/>
          </p:nvPr>
        </p:nvSpPr>
        <p:spPr/>
        <p:txBody>
          <a:bodyPr/>
          <a:lstStyle/>
          <a:p>
            <a:endParaRPr lang="ar-SA"/>
          </a:p>
        </p:txBody>
      </p:sp>
      <p:sp>
        <p:nvSpPr>
          <p:cNvPr id="4" name="عنصر نائب لرقم الشريحة 3">
            <a:extLst>
              <a:ext uri="{FF2B5EF4-FFF2-40B4-BE49-F238E27FC236}">
                <a16:creationId xmlns:a16="http://schemas.microsoft.com/office/drawing/2014/main" id="{79B33F9F-9D8A-FBAE-4890-BDAE9D550274}"/>
              </a:ext>
            </a:extLst>
          </p:cNvPr>
          <p:cNvSpPr>
            <a:spLocks noGrp="1"/>
          </p:cNvSpPr>
          <p:nvPr>
            <p:ph type="sldNum" sz="quarter" idx="12"/>
          </p:nvPr>
        </p:nvSpPr>
        <p:spPr/>
        <p:txBody>
          <a:bodyPr/>
          <a:lstStyle/>
          <a:p>
            <a:fld id="{2865A55C-D657-409D-A80F-659963533693}" type="slidenum">
              <a:rPr lang="ar-SA" smtClean="0"/>
              <a:t>‹#›</a:t>
            </a:fld>
            <a:endParaRPr lang="ar-SA"/>
          </a:p>
        </p:txBody>
      </p:sp>
    </p:spTree>
    <p:extLst>
      <p:ext uri="{BB962C8B-B14F-4D97-AF65-F5344CB8AC3E}">
        <p14:creationId xmlns:p14="http://schemas.microsoft.com/office/powerpoint/2010/main" val="39421084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B0445A5-7B2C-8B05-4D06-23B8EAF94A85}"/>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54DEC224-D61E-5B76-61DB-DF512E92D9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a:extLst>
              <a:ext uri="{FF2B5EF4-FFF2-40B4-BE49-F238E27FC236}">
                <a16:creationId xmlns:a16="http://schemas.microsoft.com/office/drawing/2014/main" id="{57AD9098-1E8D-10D2-DE40-6D245CB9B1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5388B296-128C-A6ED-F6F7-87C1C4FFFA9C}"/>
              </a:ext>
            </a:extLst>
          </p:cNvPr>
          <p:cNvSpPr>
            <a:spLocks noGrp="1"/>
          </p:cNvSpPr>
          <p:nvPr>
            <p:ph type="dt" sz="half" idx="10"/>
          </p:nvPr>
        </p:nvSpPr>
        <p:spPr/>
        <p:txBody>
          <a:bodyPr/>
          <a:lstStyle/>
          <a:p>
            <a:fld id="{D2FE2217-C459-4200-AB8B-69D8D6FFF715}" type="datetimeFigureOut">
              <a:rPr lang="ar-SA" smtClean="0"/>
              <a:t>16/10/1443</a:t>
            </a:fld>
            <a:endParaRPr lang="ar-SA"/>
          </a:p>
        </p:txBody>
      </p:sp>
      <p:sp>
        <p:nvSpPr>
          <p:cNvPr id="6" name="عنصر نائب للتذييل 5">
            <a:extLst>
              <a:ext uri="{FF2B5EF4-FFF2-40B4-BE49-F238E27FC236}">
                <a16:creationId xmlns:a16="http://schemas.microsoft.com/office/drawing/2014/main" id="{08038BA5-CCA3-3677-86D9-1410F7344D32}"/>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A96E5311-B3A2-4888-3735-95A7EFC8CDFF}"/>
              </a:ext>
            </a:extLst>
          </p:cNvPr>
          <p:cNvSpPr>
            <a:spLocks noGrp="1"/>
          </p:cNvSpPr>
          <p:nvPr>
            <p:ph type="sldNum" sz="quarter" idx="12"/>
          </p:nvPr>
        </p:nvSpPr>
        <p:spPr/>
        <p:txBody>
          <a:bodyPr/>
          <a:lstStyle/>
          <a:p>
            <a:fld id="{2865A55C-D657-409D-A80F-659963533693}" type="slidenum">
              <a:rPr lang="ar-SA" smtClean="0"/>
              <a:t>‹#›</a:t>
            </a:fld>
            <a:endParaRPr lang="ar-SA"/>
          </a:p>
        </p:txBody>
      </p:sp>
    </p:spTree>
    <p:extLst>
      <p:ext uri="{BB962C8B-B14F-4D97-AF65-F5344CB8AC3E}">
        <p14:creationId xmlns:p14="http://schemas.microsoft.com/office/powerpoint/2010/main" val="643020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6808C14-251A-E993-48DD-589A81F8867C}"/>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صورة 2">
            <a:extLst>
              <a:ext uri="{FF2B5EF4-FFF2-40B4-BE49-F238E27FC236}">
                <a16:creationId xmlns:a16="http://schemas.microsoft.com/office/drawing/2014/main" id="{9CCB00BD-2FC2-CDE2-FD6B-0AC2946169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a:extLst>
              <a:ext uri="{FF2B5EF4-FFF2-40B4-BE49-F238E27FC236}">
                <a16:creationId xmlns:a16="http://schemas.microsoft.com/office/drawing/2014/main" id="{15C725A8-D7B4-A45F-EB74-6A55A5F674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3AC0AE96-2270-8CFD-0853-CEA95EE2F5C4}"/>
              </a:ext>
            </a:extLst>
          </p:cNvPr>
          <p:cNvSpPr>
            <a:spLocks noGrp="1"/>
          </p:cNvSpPr>
          <p:nvPr>
            <p:ph type="dt" sz="half" idx="10"/>
          </p:nvPr>
        </p:nvSpPr>
        <p:spPr/>
        <p:txBody>
          <a:bodyPr/>
          <a:lstStyle/>
          <a:p>
            <a:fld id="{D2FE2217-C459-4200-AB8B-69D8D6FFF715}" type="datetimeFigureOut">
              <a:rPr lang="ar-SA" smtClean="0"/>
              <a:t>16/10/1443</a:t>
            </a:fld>
            <a:endParaRPr lang="ar-SA"/>
          </a:p>
        </p:txBody>
      </p:sp>
      <p:sp>
        <p:nvSpPr>
          <p:cNvPr id="6" name="عنصر نائب للتذييل 5">
            <a:extLst>
              <a:ext uri="{FF2B5EF4-FFF2-40B4-BE49-F238E27FC236}">
                <a16:creationId xmlns:a16="http://schemas.microsoft.com/office/drawing/2014/main" id="{685A8016-A4D1-F2D7-BC28-10BB4CB389E3}"/>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37F58438-0CE8-35C4-C0DA-284D8CDB7C09}"/>
              </a:ext>
            </a:extLst>
          </p:cNvPr>
          <p:cNvSpPr>
            <a:spLocks noGrp="1"/>
          </p:cNvSpPr>
          <p:nvPr>
            <p:ph type="sldNum" sz="quarter" idx="12"/>
          </p:nvPr>
        </p:nvSpPr>
        <p:spPr/>
        <p:txBody>
          <a:bodyPr/>
          <a:lstStyle/>
          <a:p>
            <a:fld id="{2865A55C-D657-409D-A80F-659963533693}" type="slidenum">
              <a:rPr lang="ar-SA" smtClean="0"/>
              <a:t>‹#›</a:t>
            </a:fld>
            <a:endParaRPr lang="ar-SA"/>
          </a:p>
        </p:txBody>
      </p:sp>
    </p:spTree>
    <p:extLst>
      <p:ext uri="{BB962C8B-B14F-4D97-AF65-F5344CB8AC3E}">
        <p14:creationId xmlns:p14="http://schemas.microsoft.com/office/powerpoint/2010/main" val="807104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2CA4227-E63A-4B75-89D0-5AE0019B7313}"/>
              </a:ext>
            </a:extLst>
          </p:cNvPr>
          <p:cNvSpPr>
            <a:spLocks noGrp="1"/>
          </p:cNvSpPr>
          <p:nvPr>
            <p:ph type="title"/>
          </p:nvPr>
        </p:nvSpPr>
        <p:spPr/>
        <p:txBody>
          <a:bodyPr/>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D93E4164-AF17-D7D4-CF92-A63E82C3C67F}"/>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734575F5-97A5-1ED0-7C34-1B77FC28A674}"/>
              </a:ext>
            </a:extLst>
          </p:cNvPr>
          <p:cNvSpPr>
            <a:spLocks noGrp="1"/>
          </p:cNvSpPr>
          <p:nvPr>
            <p:ph type="dt" sz="half" idx="10"/>
          </p:nvPr>
        </p:nvSpPr>
        <p:spPr/>
        <p:txBody>
          <a:bodyPr/>
          <a:lstStyle/>
          <a:p>
            <a:fld id="{D2FE2217-C459-4200-AB8B-69D8D6FFF715}" type="datetimeFigureOut">
              <a:rPr lang="ar-SA" smtClean="0"/>
              <a:t>16/10/1443</a:t>
            </a:fld>
            <a:endParaRPr lang="ar-SA"/>
          </a:p>
        </p:txBody>
      </p:sp>
      <p:sp>
        <p:nvSpPr>
          <p:cNvPr id="5" name="عنصر نائب للتذييل 4">
            <a:extLst>
              <a:ext uri="{FF2B5EF4-FFF2-40B4-BE49-F238E27FC236}">
                <a16:creationId xmlns:a16="http://schemas.microsoft.com/office/drawing/2014/main" id="{4378550F-17C1-81E1-8CEC-F82F250FE72D}"/>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FA1EAA6A-1854-AE34-660F-C75178802422}"/>
              </a:ext>
            </a:extLst>
          </p:cNvPr>
          <p:cNvSpPr>
            <a:spLocks noGrp="1"/>
          </p:cNvSpPr>
          <p:nvPr>
            <p:ph type="sldNum" sz="quarter" idx="12"/>
          </p:nvPr>
        </p:nvSpPr>
        <p:spPr/>
        <p:txBody>
          <a:bodyPr/>
          <a:lstStyle/>
          <a:p>
            <a:fld id="{2865A55C-D657-409D-A80F-659963533693}" type="slidenum">
              <a:rPr lang="ar-SA" smtClean="0"/>
              <a:t>‹#›</a:t>
            </a:fld>
            <a:endParaRPr lang="ar-SA"/>
          </a:p>
        </p:txBody>
      </p:sp>
    </p:spTree>
    <p:extLst>
      <p:ext uri="{BB962C8B-B14F-4D97-AF65-F5344CB8AC3E}">
        <p14:creationId xmlns:p14="http://schemas.microsoft.com/office/powerpoint/2010/main" val="4020383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FABEB5C5-0172-2B58-024D-D91CDE8C21EE}"/>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DC55A2E1-80CE-A703-58B8-C368449C579D}"/>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DCA27585-016E-4106-9AAD-536D093E5A94}"/>
              </a:ext>
            </a:extLst>
          </p:cNvPr>
          <p:cNvSpPr>
            <a:spLocks noGrp="1"/>
          </p:cNvSpPr>
          <p:nvPr>
            <p:ph type="dt" sz="half" idx="10"/>
          </p:nvPr>
        </p:nvSpPr>
        <p:spPr/>
        <p:txBody>
          <a:bodyPr/>
          <a:lstStyle/>
          <a:p>
            <a:fld id="{D2FE2217-C459-4200-AB8B-69D8D6FFF715}" type="datetimeFigureOut">
              <a:rPr lang="ar-SA" smtClean="0"/>
              <a:t>16/10/1443</a:t>
            </a:fld>
            <a:endParaRPr lang="ar-SA"/>
          </a:p>
        </p:txBody>
      </p:sp>
      <p:sp>
        <p:nvSpPr>
          <p:cNvPr id="5" name="عنصر نائب للتذييل 4">
            <a:extLst>
              <a:ext uri="{FF2B5EF4-FFF2-40B4-BE49-F238E27FC236}">
                <a16:creationId xmlns:a16="http://schemas.microsoft.com/office/drawing/2014/main" id="{D8F00B7F-36C6-B482-1BFF-FAD9CE989E20}"/>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E6D1758B-967C-992E-22AD-01BE206FF871}"/>
              </a:ext>
            </a:extLst>
          </p:cNvPr>
          <p:cNvSpPr>
            <a:spLocks noGrp="1"/>
          </p:cNvSpPr>
          <p:nvPr>
            <p:ph type="sldNum" sz="quarter" idx="12"/>
          </p:nvPr>
        </p:nvSpPr>
        <p:spPr/>
        <p:txBody>
          <a:bodyPr/>
          <a:lstStyle/>
          <a:p>
            <a:fld id="{2865A55C-D657-409D-A80F-659963533693}" type="slidenum">
              <a:rPr lang="ar-SA" smtClean="0"/>
              <a:t>‹#›</a:t>
            </a:fld>
            <a:endParaRPr lang="ar-SA"/>
          </a:p>
        </p:txBody>
      </p:sp>
    </p:spTree>
    <p:extLst>
      <p:ext uri="{BB962C8B-B14F-4D97-AF65-F5344CB8AC3E}">
        <p14:creationId xmlns:p14="http://schemas.microsoft.com/office/powerpoint/2010/main" val="277144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l="-6000" r="-6000"/>
          </a:stretch>
        </a:blipFill>
        <a:effectLst/>
      </p:bgPr>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CE9390D5-909D-6820-CF2F-6B061252A10C}"/>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D041B749-84AB-ECBD-CE93-AC04721D35EC}"/>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EE399E6A-635E-2742-9F49-AA09CA09FC1B}"/>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D2FE2217-C459-4200-AB8B-69D8D6FFF715}" type="datetimeFigureOut">
              <a:rPr lang="ar-SA" smtClean="0"/>
              <a:t>16/10/1443</a:t>
            </a:fld>
            <a:endParaRPr lang="ar-SA"/>
          </a:p>
        </p:txBody>
      </p:sp>
      <p:sp>
        <p:nvSpPr>
          <p:cNvPr id="5" name="عنصر نائب للتذييل 4">
            <a:extLst>
              <a:ext uri="{FF2B5EF4-FFF2-40B4-BE49-F238E27FC236}">
                <a16:creationId xmlns:a16="http://schemas.microsoft.com/office/drawing/2014/main" id="{1437DACC-FD48-2E3F-4C2C-2437A9BE6C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ar-SA"/>
          </a:p>
        </p:txBody>
      </p:sp>
      <p:sp>
        <p:nvSpPr>
          <p:cNvPr id="6" name="عنصر نائب لرقم الشريحة 5">
            <a:extLst>
              <a:ext uri="{FF2B5EF4-FFF2-40B4-BE49-F238E27FC236}">
                <a16:creationId xmlns:a16="http://schemas.microsoft.com/office/drawing/2014/main" id="{20A45A7C-7085-EAF4-1332-2EA6A658F17C}"/>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2865A55C-D657-409D-A80F-659963533693}" type="slidenum">
              <a:rPr lang="ar-SA" smtClean="0"/>
              <a:t>‹#›</a:t>
            </a:fld>
            <a:endParaRPr lang="ar-SA"/>
          </a:p>
        </p:txBody>
      </p:sp>
    </p:spTree>
    <p:extLst>
      <p:ext uri="{BB962C8B-B14F-4D97-AF65-F5344CB8AC3E}">
        <p14:creationId xmlns:p14="http://schemas.microsoft.com/office/powerpoint/2010/main" val="4996185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 Id="rId5" Type="http://schemas.openxmlformats.org/officeDocument/2006/relationships/image" Target="../media/image6.jpe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صورة 5">
            <a:extLst>
              <a:ext uri="{FF2B5EF4-FFF2-40B4-BE49-F238E27FC236}">
                <a16:creationId xmlns:a16="http://schemas.microsoft.com/office/drawing/2014/main" id="{A2D75054-E85A-F46D-904F-A869B23E6737}"/>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4676307" y="432079"/>
            <a:ext cx="2839386" cy="1517301"/>
          </a:xfrm>
          <a:prstGeom prst="rect">
            <a:avLst/>
          </a:prstGeom>
          <a:gradFill>
            <a:gsLst>
              <a:gs pos="50000">
                <a:srgbClr val="223748"/>
              </a:gs>
              <a:gs pos="0">
                <a:srgbClr val="3253A0"/>
              </a:gs>
              <a:gs pos="74000">
                <a:srgbClr val="385786"/>
              </a:gs>
              <a:gs pos="83000">
                <a:srgbClr val="50719E"/>
              </a:gs>
              <a:gs pos="100000">
                <a:srgbClr val="8DF2FB"/>
              </a:gs>
            </a:gsLst>
            <a:lin ang="5400000" scaled="1"/>
          </a:gradFill>
          <a:effectLst>
            <a:glow rad="114300">
              <a:srgbClr val="8EF4FF">
                <a:alpha val="72000"/>
              </a:srgbClr>
            </a:glow>
          </a:effectLst>
        </p:spPr>
      </p:pic>
      <p:sp useBgFill="1">
        <p:nvSpPr>
          <p:cNvPr id="8" name="مستطيل 7">
            <a:extLst>
              <a:ext uri="{FF2B5EF4-FFF2-40B4-BE49-F238E27FC236}">
                <a16:creationId xmlns:a16="http://schemas.microsoft.com/office/drawing/2014/main" id="{18445F71-D9EF-8966-762F-2C091A805A48}"/>
              </a:ext>
            </a:extLst>
          </p:cNvPr>
          <p:cNvSpPr/>
          <p:nvPr/>
        </p:nvSpPr>
        <p:spPr>
          <a:xfrm>
            <a:off x="8772250" y="432079"/>
            <a:ext cx="3212739" cy="954107"/>
          </a:xfrm>
          <a:prstGeom prst="rect">
            <a:avLst/>
          </a:prstGeom>
        </p:spPr>
        <p:txBody>
          <a:bodyPr wrap="none" lIns="91440" tIns="45720" rIns="91440" bIns="45720">
            <a:spAutoFit/>
          </a:bodyPr>
          <a:lstStyle/>
          <a:p>
            <a:pPr algn="ctr"/>
            <a:r>
              <a:rPr lang="ar-SA" sz="2800" b="0" cap="none" spc="0" dirty="0">
                <a:ln w="0"/>
                <a:solidFill>
                  <a:srgbClr val="EDFBFC"/>
                </a:solidFill>
                <a:effectLst>
                  <a:outerShdw blurRad="38100" dist="25400" dir="5400000" algn="ctr" rotWithShape="0">
                    <a:srgbClr val="6E747A">
                      <a:alpha val="43000"/>
                    </a:srgbClr>
                  </a:outerShdw>
                </a:effectLst>
                <a:latin typeface="Andalus" panose="02020603050405020304" pitchFamily="18" charset="-78"/>
                <a:cs typeface="Andalus" panose="02020603050405020304" pitchFamily="18" charset="-78"/>
              </a:rPr>
              <a:t>كلية الدراسات التطبيقية</a:t>
            </a:r>
          </a:p>
          <a:p>
            <a:pPr algn="ctr"/>
            <a:r>
              <a:rPr lang="ar-SA" sz="2800" b="0" cap="none" spc="0" dirty="0">
                <a:ln w="0"/>
                <a:solidFill>
                  <a:srgbClr val="EDFBFC"/>
                </a:solidFill>
                <a:effectLst>
                  <a:outerShdw blurRad="38100" dist="25400" dir="5400000" algn="ctr" rotWithShape="0">
                    <a:srgbClr val="6E747A">
                      <a:alpha val="43000"/>
                    </a:srgbClr>
                  </a:outerShdw>
                </a:effectLst>
                <a:latin typeface="Andalus" panose="02020603050405020304" pitchFamily="18" charset="-78"/>
                <a:cs typeface="Andalus" panose="02020603050405020304" pitchFamily="18" charset="-78"/>
              </a:rPr>
              <a:t>قسم نظم المعلومات الإدارية</a:t>
            </a:r>
          </a:p>
        </p:txBody>
      </p:sp>
      <p:sp>
        <p:nvSpPr>
          <p:cNvPr id="9" name="مربع نص 8">
            <a:extLst>
              <a:ext uri="{FF2B5EF4-FFF2-40B4-BE49-F238E27FC236}">
                <a16:creationId xmlns:a16="http://schemas.microsoft.com/office/drawing/2014/main" id="{8583D970-0483-5A70-0914-083DA3AE117E}"/>
              </a:ext>
            </a:extLst>
          </p:cNvPr>
          <p:cNvSpPr txBox="1"/>
          <p:nvPr/>
        </p:nvSpPr>
        <p:spPr>
          <a:xfrm>
            <a:off x="0" y="5083461"/>
            <a:ext cx="4286824" cy="1569660"/>
          </a:xfrm>
          <a:prstGeom prst="rect">
            <a:avLst/>
          </a:prstGeom>
          <a:noFill/>
        </p:spPr>
        <p:txBody>
          <a:bodyPr wrap="square" rtlCol="1">
            <a:spAutoFit/>
          </a:bodyPr>
          <a:lstStyle/>
          <a:p>
            <a:r>
              <a:rPr lang="ar-SA" sz="9600" dirty="0">
                <a:solidFill>
                  <a:srgbClr val="EDFBFC"/>
                </a:solidFill>
              </a:rPr>
              <a:t>التشفير</a:t>
            </a:r>
          </a:p>
        </p:txBody>
      </p:sp>
      <p:sp>
        <p:nvSpPr>
          <p:cNvPr id="12" name="مربع نص 11">
            <a:extLst>
              <a:ext uri="{FF2B5EF4-FFF2-40B4-BE49-F238E27FC236}">
                <a16:creationId xmlns:a16="http://schemas.microsoft.com/office/drawing/2014/main" id="{3C8941BD-DDD9-9084-C4F4-C8833E5E6D03}"/>
              </a:ext>
            </a:extLst>
          </p:cNvPr>
          <p:cNvSpPr txBox="1"/>
          <p:nvPr/>
        </p:nvSpPr>
        <p:spPr>
          <a:xfrm>
            <a:off x="7906328" y="5452792"/>
            <a:ext cx="4078662" cy="1200329"/>
          </a:xfrm>
          <a:prstGeom prst="rect">
            <a:avLst/>
          </a:prstGeom>
          <a:noFill/>
          <a:ln>
            <a:solidFill>
              <a:srgbClr val="8DF2FB"/>
            </a:solidFill>
          </a:ln>
        </p:spPr>
        <p:txBody>
          <a:bodyPr wrap="square" rtlCol="1">
            <a:spAutoFit/>
          </a:bodyPr>
          <a:lstStyle/>
          <a:p>
            <a:r>
              <a:rPr lang="ar-SA" sz="3600" dirty="0">
                <a:solidFill>
                  <a:srgbClr val="EDFBFC"/>
                </a:solidFill>
              </a:rPr>
              <a:t>أحمد عبدالله </a:t>
            </a:r>
            <a:r>
              <a:rPr lang="ar-SA" sz="3600" dirty="0" smtClean="0">
                <a:solidFill>
                  <a:srgbClr val="EDFBFC"/>
                </a:solidFill>
              </a:rPr>
              <a:t>البحار</a:t>
            </a:r>
            <a:r>
              <a:rPr lang="en-US" sz="3600" dirty="0">
                <a:solidFill>
                  <a:srgbClr val="EDFBFC"/>
                </a:solidFill>
              </a:rPr>
              <a:t>2</a:t>
            </a:r>
            <a:r>
              <a:rPr lang="en-US" sz="3600" dirty="0" smtClean="0">
                <a:solidFill>
                  <a:srgbClr val="EDFBFC"/>
                </a:solidFill>
              </a:rPr>
              <a:t> </a:t>
            </a:r>
            <a:endParaRPr lang="ar-SA" sz="3600" dirty="0">
              <a:solidFill>
                <a:srgbClr val="EDFBFC"/>
              </a:solidFill>
            </a:endParaRPr>
          </a:p>
          <a:p>
            <a:r>
              <a:rPr lang="ar-SA" sz="3600" dirty="0">
                <a:solidFill>
                  <a:srgbClr val="EDFBFC"/>
                </a:solidFill>
              </a:rPr>
              <a:t>محسن محمد </a:t>
            </a:r>
            <a:r>
              <a:rPr lang="ar-SA" sz="3600" dirty="0" smtClean="0">
                <a:solidFill>
                  <a:srgbClr val="EDFBFC"/>
                </a:solidFill>
              </a:rPr>
              <a:t>النابود</a:t>
            </a:r>
            <a:r>
              <a:rPr lang="en-US" sz="3600" dirty="0" smtClean="0">
                <a:solidFill>
                  <a:srgbClr val="EDFBFC"/>
                </a:solidFill>
              </a:rPr>
              <a:t>20 </a:t>
            </a:r>
            <a:endParaRPr lang="ar-SA" sz="3600" dirty="0">
              <a:solidFill>
                <a:srgbClr val="EDFBFC"/>
              </a:solidFill>
            </a:endParaRPr>
          </a:p>
        </p:txBody>
      </p:sp>
      <p:cxnSp>
        <p:nvCxnSpPr>
          <p:cNvPr id="20" name="موصل: منحني 19">
            <a:extLst>
              <a:ext uri="{FF2B5EF4-FFF2-40B4-BE49-F238E27FC236}">
                <a16:creationId xmlns:a16="http://schemas.microsoft.com/office/drawing/2014/main" id="{C65E640B-E86C-A510-57B4-0DB5F9475AE7}"/>
              </a:ext>
            </a:extLst>
          </p:cNvPr>
          <p:cNvCxnSpPr/>
          <p:nvPr/>
        </p:nvCxnSpPr>
        <p:spPr>
          <a:xfrm rot="10800000" flipV="1">
            <a:off x="8772250" y="5211631"/>
            <a:ext cx="924448" cy="241161"/>
          </a:xfrm>
          <a:prstGeom prst="curvedConnector3">
            <a:avLst/>
          </a:prstGeom>
          <a:ln>
            <a:headEnd type="triangle"/>
            <a:tailEnd type="triangle"/>
          </a:ln>
          <a:effectLst>
            <a:glow rad="38100">
              <a:srgbClr val="8DF2FB"/>
            </a:glow>
          </a:effectLst>
        </p:spPr>
        <p:style>
          <a:lnRef idx="1">
            <a:schemeClr val="accent1"/>
          </a:lnRef>
          <a:fillRef idx="0">
            <a:schemeClr val="accent1"/>
          </a:fillRef>
          <a:effectRef idx="0">
            <a:schemeClr val="accent1"/>
          </a:effectRef>
          <a:fontRef idx="minor">
            <a:schemeClr val="tx1"/>
          </a:fontRef>
        </p:style>
      </p:cxnSp>
      <p:sp>
        <p:nvSpPr>
          <p:cNvPr id="22" name="مربع نص 21">
            <a:extLst>
              <a:ext uri="{FF2B5EF4-FFF2-40B4-BE49-F238E27FC236}">
                <a16:creationId xmlns:a16="http://schemas.microsoft.com/office/drawing/2014/main" id="{9B0871CE-B434-CD26-8847-445890F07A95}"/>
              </a:ext>
            </a:extLst>
          </p:cNvPr>
          <p:cNvSpPr txBox="1"/>
          <p:nvPr/>
        </p:nvSpPr>
        <p:spPr>
          <a:xfrm>
            <a:off x="89417" y="6246811"/>
            <a:ext cx="804887" cy="400110"/>
          </a:xfrm>
          <a:prstGeom prst="rect">
            <a:avLst/>
          </a:prstGeom>
          <a:noFill/>
          <a:ln>
            <a:solidFill>
              <a:srgbClr val="8DF2FB"/>
            </a:solidFill>
          </a:ln>
        </p:spPr>
        <p:txBody>
          <a:bodyPr wrap="square" rtlCol="1">
            <a:spAutoFit/>
          </a:bodyPr>
          <a:lstStyle/>
          <a:p>
            <a:r>
              <a:rPr lang="en-US" sz="2000" dirty="0" smtClean="0">
                <a:solidFill>
                  <a:srgbClr val="EDFBFC"/>
                </a:solidFill>
              </a:rPr>
              <a:t>1/15</a:t>
            </a:r>
            <a:endParaRPr lang="ar-SA" sz="2000" dirty="0">
              <a:solidFill>
                <a:srgbClr val="EDFBFC"/>
              </a:solidFill>
            </a:endParaRPr>
          </a:p>
        </p:txBody>
      </p:sp>
      <p:sp>
        <p:nvSpPr>
          <p:cNvPr id="24" name="مربع نص 23">
            <a:extLst>
              <a:ext uri="{FF2B5EF4-FFF2-40B4-BE49-F238E27FC236}">
                <a16:creationId xmlns:a16="http://schemas.microsoft.com/office/drawing/2014/main" id="{CFEF709F-6941-B9C2-8E5A-3E7B488440B4}"/>
              </a:ext>
            </a:extLst>
          </p:cNvPr>
          <p:cNvSpPr txBox="1"/>
          <p:nvPr/>
        </p:nvSpPr>
        <p:spPr>
          <a:xfrm>
            <a:off x="8508260" y="4570323"/>
            <a:ext cx="3476729" cy="646331"/>
          </a:xfrm>
          <a:prstGeom prst="rect">
            <a:avLst/>
          </a:prstGeom>
          <a:noFill/>
          <a:ln>
            <a:solidFill>
              <a:srgbClr val="8DF2FB"/>
            </a:solidFill>
          </a:ln>
        </p:spPr>
        <p:txBody>
          <a:bodyPr wrap="square" rtlCol="1">
            <a:spAutoFit/>
          </a:bodyPr>
          <a:lstStyle/>
          <a:p>
            <a:r>
              <a:rPr lang="ar-SA" sz="3600" b="1" dirty="0">
                <a:solidFill>
                  <a:srgbClr val="EDFBFC"/>
                </a:solidFill>
              </a:rPr>
              <a:t>أسماء الطلاب:</a:t>
            </a:r>
          </a:p>
        </p:txBody>
      </p:sp>
    </p:spTree>
    <p:extLst>
      <p:ext uri="{BB962C8B-B14F-4D97-AF65-F5344CB8AC3E}">
        <p14:creationId xmlns:p14="http://schemas.microsoft.com/office/powerpoint/2010/main" val="8092228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Blur radius="13"/>
                    </a14:imgEffect>
                  </a14:imgLayer>
                </a14:imgProps>
              </a:ext>
            </a:extLst>
          </a:blip>
          <a:srcRect/>
          <a:stretch>
            <a:fillRect l="-6000" r="-6000"/>
          </a:stretch>
        </a:blipFill>
        <a:effectLst/>
      </p:bgPr>
    </p:bg>
    <p:spTree>
      <p:nvGrpSpPr>
        <p:cNvPr id="1" name=""/>
        <p:cNvGrpSpPr/>
        <p:nvPr/>
      </p:nvGrpSpPr>
      <p:grpSpPr>
        <a:xfrm>
          <a:off x="0" y="0"/>
          <a:ext cx="0" cy="0"/>
          <a:chOff x="0" y="0"/>
          <a:chExt cx="0" cy="0"/>
        </a:xfrm>
      </p:grpSpPr>
      <p:sp>
        <p:nvSpPr>
          <p:cNvPr id="22" name="مربع نص 21">
            <a:extLst>
              <a:ext uri="{FF2B5EF4-FFF2-40B4-BE49-F238E27FC236}">
                <a16:creationId xmlns:a16="http://schemas.microsoft.com/office/drawing/2014/main" id="{9B0871CE-B434-CD26-8847-445890F07A95}"/>
              </a:ext>
            </a:extLst>
          </p:cNvPr>
          <p:cNvSpPr txBox="1"/>
          <p:nvPr/>
        </p:nvSpPr>
        <p:spPr>
          <a:xfrm>
            <a:off x="89417" y="6246811"/>
            <a:ext cx="804887" cy="400110"/>
          </a:xfrm>
          <a:prstGeom prst="rect">
            <a:avLst/>
          </a:prstGeom>
          <a:noFill/>
          <a:ln>
            <a:solidFill>
              <a:srgbClr val="8DF2FB"/>
            </a:solidFill>
          </a:ln>
        </p:spPr>
        <p:txBody>
          <a:bodyPr wrap="square" rtlCol="1">
            <a:spAutoFit/>
          </a:bodyPr>
          <a:lstStyle/>
          <a:p>
            <a:r>
              <a:rPr lang="en-US" sz="2000" dirty="0" smtClean="0">
                <a:solidFill>
                  <a:srgbClr val="EDFBFC"/>
                </a:solidFill>
              </a:rPr>
              <a:t>2/15</a:t>
            </a:r>
            <a:endParaRPr lang="ar-SA" sz="2000" dirty="0">
              <a:solidFill>
                <a:srgbClr val="EDFBFC"/>
              </a:solidFill>
            </a:endParaRPr>
          </a:p>
        </p:txBody>
      </p:sp>
      <p:sp>
        <p:nvSpPr>
          <p:cNvPr id="10" name="مربع نص 9">
            <a:extLst>
              <a:ext uri="{FF2B5EF4-FFF2-40B4-BE49-F238E27FC236}">
                <a16:creationId xmlns:a16="http://schemas.microsoft.com/office/drawing/2014/main" id="{703E0492-3F5E-FB14-0A4E-396FBC2E2E9F}"/>
              </a:ext>
            </a:extLst>
          </p:cNvPr>
          <p:cNvSpPr txBox="1"/>
          <p:nvPr/>
        </p:nvSpPr>
        <p:spPr>
          <a:xfrm>
            <a:off x="7842620" y="2399606"/>
            <a:ext cx="3476729" cy="2677656"/>
          </a:xfrm>
          <a:prstGeom prst="rect">
            <a:avLst/>
          </a:prstGeom>
          <a:noFill/>
          <a:ln>
            <a:solidFill>
              <a:srgbClr val="8DF2FB"/>
            </a:solidFill>
          </a:ln>
        </p:spPr>
        <p:txBody>
          <a:bodyPr wrap="square" rtlCol="1">
            <a:spAutoFit/>
          </a:bodyPr>
          <a:lstStyle/>
          <a:p>
            <a:pPr marL="342900" indent="-342900">
              <a:buFont typeface="Arial" panose="020B0604020202020204" pitchFamily="34" charset="0"/>
              <a:buChar char="•"/>
            </a:pPr>
            <a:r>
              <a:rPr lang="ar-SA" sz="2400" dirty="0">
                <a:solidFill>
                  <a:srgbClr val="EDFBFC"/>
                </a:solidFill>
              </a:rPr>
              <a:t>المقدمة.</a:t>
            </a:r>
          </a:p>
          <a:p>
            <a:pPr marL="342900" indent="-342900">
              <a:buFont typeface="Arial" panose="020B0604020202020204" pitchFamily="34" charset="0"/>
              <a:buChar char="•"/>
            </a:pPr>
            <a:r>
              <a:rPr lang="ar-SA" sz="2400" dirty="0">
                <a:solidFill>
                  <a:srgbClr val="EDFBFC"/>
                </a:solidFill>
              </a:rPr>
              <a:t>واجهات البرنامج.</a:t>
            </a:r>
          </a:p>
          <a:p>
            <a:pPr marL="342900" indent="-342900">
              <a:buFont typeface="Arial" panose="020B0604020202020204" pitchFamily="34" charset="0"/>
              <a:buChar char="•"/>
            </a:pPr>
            <a:r>
              <a:rPr lang="ar-SA" sz="2400" dirty="0">
                <a:solidFill>
                  <a:srgbClr val="EDFBFC"/>
                </a:solidFill>
              </a:rPr>
              <a:t>أمثلة عملية.</a:t>
            </a:r>
          </a:p>
          <a:p>
            <a:pPr marL="342900" indent="-342900">
              <a:buFont typeface="Arial" panose="020B0604020202020204" pitchFamily="34" charset="0"/>
              <a:buChar char="•"/>
            </a:pPr>
            <a:r>
              <a:rPr lang="ar-SA" sz="2400" dirty="0" smtClean="0">
                <a:solidFill>
                  <a:srgbClr val="EDFBFC"/>
                </a:solidFill>
              </a:rPr>
              <a:t>تطبيق وعرض </a:t>
            </a:r>
            <a:r>
              <a:rPr lang="ar-SA" sz="2400" dirty="0">
                <a:solidFill>
                  <a:srgbClr val="EDFBFC"/>
                </a:solidFill>
              </a:rPr>
              <a:t>مباشر للبرنامج والاطلاع على تفاصيله بشكل موجز.</a:t>
            </a:r>
          </a:p>
          <a:p>
            <a:pPr marL="342900" indent="-342900">
              <a:buFont typeface="Arial" panose="020B0604020202020204" pitchFamily="34" charset="0"/>
              <a:buChar char="•"/>
            </a:pPr>
            <a:r>
              <a:rPr lang="ar-SA" sz="2400">
                <a:solidFill>
                  <a:srgbClr val="EDFBFC"/>
                </a:solidFill>
              </a:rPr>
              <a:t>ملخص</a:t>
            </a:r>
            <a:r>
              <a:rPr lang="ar-SA" sz="2400" smtClean="0">
                <a:solidFill>
                  <a:srgbClr val="EDFBFC"/>
                </a:solidFill>
              </a:rPr>
              <a:t>.</a:t>
            </a:r>
            <a:endParaRPr lang="ar-SA" sz="2400" dirty="0">
              <a:solidFill>
                <a:srgbClr val="EDFBFC"/>
              </a:solidFill>
            </a:endParaRPr>
          </a:p>
        </p:txBody>
      </p:sp>
      <p:sp>
        <p:nvSpPr>
          <p:cNvPr id="11" name="مربع نص 10">
            <a:extLst>
              <a:ext uri="{FF2B5EF4-FFF2-40B4-BE49-F238E27FC236}">
                <a16:creationId xmlns:a16="http://schemas.microsoft.com/office/drawing/2014/main" id="{AA1E9E58-CCAB-2CD0-C5FA-302498D337D6}"/>
              </a:ext>
            </a:extLst>
          </p:cNvPr>
          <p:cNvSpPr txBox="1"/>
          <p:nvPr/>
        </p:nvSpPr>
        <p:spPr>
          <a:xfrm>
            <a:off x="2611014" y="211079"/>
            <a:ext cx="6969971" cy="1569660"/>
          </a:xfrm>
          <a:prstGeom prst="rect">
            <a:avLst/>
          </a:prstGeom>
          <a:noFill/>
        </p:spPr>
        <p:txBody>
          <a:bodyPr wrap="square" rtlCol="1">
            <a:spAutoFit/>
          </a:bodyPr>
          <a:lstStyle/>
          <a:p>
            <a:pPr algn="ctr"/>
            <a:r>
              <a:rPr lang="ar-SA" sz="9600" dirty="0">
                <a:solidFill>
                  <a:srgbClr val="EDFBFC"/>
                </a:solidFill>
              </a:rPr>
              <a:t>محتويات العرض</a:t>
            </a:r>
          </a:p>
        </p:txBody>
      </p:sp>
    </p:spTree>
    <p:extLst>
      <p:ext uri="{BB962C8B-B14F-4D97-AF65-F5344CB8AC3E}">
        <p14:creationId xmlns:p14="http://schemas.microsoft.com/office/powerpoint/2010/main" val="32659719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Blur radius="13"/>
                    </a14:imgEffect>
                  </a14:imgLayer>
                </a14:imgProps>
              </a:ext>
            </a:extLst>
          </a:blip>
          <a:srcRect/>
          <a:stretch>
            <a:fillRect l="-6000" r="-6000"/>
          </a:stretch>
        </a:blipFill>
        <a:effectLst/>
      </p:bgPr>
    </p:bg>
    <p:spTree>
      <p:nvGrpSpPr>
        <p:cNvPr id="1" name=""/>
        <p:cNvGrpSpPr/>
        <p:nvPr/>
      </p:nvGrpSpPr>
      <p:grpSpPr>
        <a:xfrm>
          <a:off x="0" y="0"/>
          <a:ext cx="0" cy="0"/>
          <a:chOff x="0" y="0"/>
          <a:chExt cx="0" cy="0"/>
        </a:xfrm>
      </p:grpSpPr>
      <p:sp>
        <p:nvSpPr>
          <p:cNvPr id="22" name="مربع نص 21">
            <a:extLst>
              <a:ext uri="{FF2B5EF4-FFF2-40B4-BE49-F238E27FC236}">
                <a16:creationId xmlns:a16="http://schemas.microsoft.com/office/drawing/2014/main" id="{9B0871CE-B434-CD26-8847-445890F07A95}"/>
              </a:ext>
            </a:extLst>
          </p:cNvPr>
          <p:cNvSpPr txBox="1"/>
          <p:nvPr/>
        </p:nvSpPr>
        <p:spPr>
          <a:xfrm>
            <a:off x="89417" y="6246811"/>
            <a:ext cx="804887" cy="400110"/>
          </a:xfrm>
          <a:prstGeom prst="rect">
            <a:avLst/>
          </a:prstGeom>
          <a:noFill/>
          <a:ln>
            <a:solidFill>
              <a:srgbClr val="8DF2FB"/>
            </a:solidFill>
          </a:ln>
        </p:spPr>
        <p:txBody>
          <a:bodyPr wrap="square" rtlCol="1">
            <a:spAutoFit/>
          </a:bodyPr>
          <a:lstStyle/>
          <a:p>
            <a:r>
              <a:rPr lang="en-US" sz="2000" dirty="0" smtClean="0">
                <a:solidFill>
                  <a:srgbClr val="EDFBFC"/>
                </a:solidFill>
              </a:rPr>
              <a:t>3/15</a:t>
            </a:r>
            <a:endParaRPr lang="ar-SA" sz="2000" dirty="0">
              <a:solidFill>
                <a:srgbClr val="EDFBFC"/>
              </a:solidFill>
            </a:endParaRPr>
          </a:p>
        </p:txBody>
      </p:sp>
      <p:sp>
        <p:nvSpPr>
          <p:cNvPr id="10" name="مربع نص 9">
            <a:extLst>
              <a:ext uri="{FF2B5EF4-FFF2-40B4-BE49-F238E27FC236}">
                <a16:creationId xmlns:a16="http://schemas.microsoft.com/office/drawing/2014/main" id="{703E0492-3F5E-FB14-0A4E-396FBC2E2E9F}"/>
              </a:ext>
            </a:extLst>
          </p:cNvPr>
          <p:cNvSpPr txBox="1"/>
          <p:nvPr/>
        </p:nvSpPr>
        <p:spPr>
          <a:xfrm>
            <a:off x="4792709" y="1660710"/>
            <a:ext cx="6893405" cy="2677656"/>
          </a:xfrm>
          <a:prstGeom prst="rect">
            <a:avLst/>
          </a:prstGeom>
          <a:noFill/>
          <a:ln>
            <a:solidFill>
              <a:srgbClr val="8DF2FB"/>
            </a:solidFill>
          </a:ln>
        </p:spPr>
        <p:txBody>
          <a:bodyPr wrap="square" rtlCol="1">
            <a:spAutoFit/>
          </a:bodyPr>
          <a:lstStyle/>
          <a:p>
            <a:pPr algn="just"/>
            <a:r>
              <a:rPr lang="ar-SA" sz="2400" dirty="0">
                <a:solidFill>
                  <a:srgbClr val="EDFBFC"/>
                </a:solidFill>
              </a:rPr>
              <a:t>يعد التشفير من أهم الوسائل للحفاظ على أمن المعلومات والممتلكات.</a:t>
            </a:r>
          </a:p>
          <a:p>
            <a:pPr algn="just"/>
            <a:r>
              <a:rPr lang="ar-SA" sz="2400" dirty="0">
                <a:solidFill>
                  <a:srgbClr val="EDFBFC"/>
                </a:solidFill>
              </a:rPr>
              <a:t> وقد قمنا بدراسة بعض جوانبه أثناء مسيرتنا الجامعية وبالأخص أثناء دراستنا مقرر أمن المعلومات وحمايتها.</a:t>
            </a:r>
          </a:p>
          <a:p>
            <a:pPr algn="just"/>
            <a:r>
              <a:rPr lang="ar-SA" sz="2400" dirty="0">
                <a:solidFill>
                  <a:srgbClr val="EDFBFC"/>
                </a:solidFill>
              </a:rPr>
              <a:t> ومن أبرز الأوجه التي اطلعنا عليها أثناء دراستنا للتشفير في هذا المقرر ، هي وسائل التشفير الشهيرة . ومن هذا المنطلق قمنا بالعمل على برنامج يحاكي بعض تلك الوسائل والطرق التي تمت دراستها وهي:</a:t>
            </a:r>
          </a:p>
        </p:txBody>
      </p:sp>
      <p:sp>
        <p:nvSpPr>
          <p:cNvPr id="11" name="مربع نص 10">
            <a:extLst>
              <a:ext uri="{FF2B5EF4-FFF2-40B4-BE49-F238E27FC236}">
                <a16:creationId xmlns:a16="http://schemas.microsoft.com/office/drawing/2014/main" id="{AA1E9E58-CCAB-2CD0-C5FA-302498D337D6}"/>
              </a:ext>
            </a:extLst>
          </p:cNvPr>
          <p:cNvSpPr txBox="1"/>
          <p:nvPr/>
        </p:nvSpPr>
        <p:spPr>
          <a:xfrm>
            <a:off x="3952588" y="91050"/>
            <a:ext cx="4286824" cy="1569660"/>
          </a:xfrm>
          <a:prstGeom prst="rect">
            <a:avLst/>
          </a:prstGeom>
          <a:noFill/>
        </p:spPr>
        <p:txBody>
          <a:bodyPr wrap="square" rtlCol="1">
            <a:spAutoFit/>
          </a:bodyPr>
          <a:lstStyle/>
          <a:p>
            <a:pPr algn="ctr"/>
            <a:r>
              <a:rPr lang="ar-SA" sz="9600" dirty="0">
                <a:solidFill>
                  <a:srgbClr val="EDFBFC"/>
                </a:solidFill>
              </a:rPr>
              <a:t>مقدمة</a:t>
            </a:r>
          </a:p>
        </p:txBody>
      </p:sp>
    </p:spTree>
    <p:extLst>
      <p:ext uri="{BB962C8B-B14F-4D97-AF65-F5344CB8AC3E}">
        <p14:creationId xmlns:p14="http://schemas.microsoft.com/office/powerpoint/2010/main" val="136144648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Blur radius="13"/>
                    </a14:imgEffect>
                  </a14:imgLayer>
                </a14:imgProps>
              </a:ext>
            </a:extLst>
          </a:blip>
          <a:srcRect/>
          <a:stretch>
            <a:fillRect l="-6000" r="-6000"/>
          </a:stretch>
        </a:blipFill>
        <a:effectLst/>
      </p:bgPr>
    </p:bg>
    <p:spTree>
      <p:nvGrpSpPr>
        <p:cNvPr id="1" name=""/>
        <p:cNvGrpSpPr/>
        <p:nvPr/>
      </p:nvGrpSpPr>
      <p:grpSpPr>
        <a:xfrm>
          <a:off x="0" y="0"/>
          <a:ext cx="0" cy="0"/>
          <a:chOff x="0" y="0"/>
          <a:chExt cx="0" cy="0"/>
        </a:xfrm>
      </p:grpSpPr>
      <p:sp>
        <p:nvSpPr>
          <p:cNvPr id="22" name="مربع نص 21">
            <a:extLst>
              <a:ext uri="{FF2B5EF4-FFF2-40B4-BE49-F238E27FC236}">
                <a16:creationId xmlns:a16="http://schemas.microsoft.com/office/drawing/2014/main" id="{9B0871CE-B434-CD26-8847-445890F07A95}"/>
              </a:ext>
            </a:extLst>
          </p:cNvPr>
          <p:cNvSpPr txBox="1"/>
          <p:nvPr/>
        </p:nvSpPr>
        <p:spPr>
          <a:xfrm>
            <a:off x="89417" y="6246811"/>
            <a:ext cx="804887" cy="400110"/>
          </a:xfrm>
          <a:prstGeom prst="rect">
            <a:avLst/>
          </a:prstGeom>
          <a:noFill/>
          <a:ln>
            <a:solidFill>
              <a:srgbClr val="8DF2FB"/>
            </a:solidFill>
          </a:ln>
        </p:spPr>
        <p:txBody>
          <a:bodyPr wrap="square" rtlCol="1">
            <a:spAutoFit/>
          </a:bodyPr>
          <a:lstStyle/>
          <a:p>
            <a:r>
              <a:rPr lang="en-US" sz="2000" dirty="0" smtClean="0">
                <a:solidFill>
                  <a:srgbClr val="EDFBFC"/>
                </a:solidFill>
              </a:rPr>
              <a:t>4/15</a:t>
            </a:r>
            <a:endParaRPr lang="ar-SA" sz="2000" dirty="0">
              <a:solidFill>
                <a:srgbClr val="EDFBFC"/>
              </a:solidFill>
            </a:endParaRPr>
          </a:p>
        </p:txBody>
      </p:sp>
      <p:sp>
        <p:nvSpPr>
          <p:cNvPr id="10" name="مربع نص 9">
            <a:extLst>
              <a:ext uri="{FF2B5EF4-FFF2-40B4-BE49-F238E27FC236}">
                <a16:creationId xmlns:a16="http://schemas.microsoft.com/office/drawing/2014/main" id="{703E0492-3F5E-FB14-0A4E-396FBC2E2E9F}"/>
              </a:ext>
            </a:extLst>
          </p:cNvPr>
          <p:cNvSpPr txBox="1"/>
          <p:nvPr/>
        </p:nvSpPr>
        <p:spPr>
          <a:xfrm>
            <a:off x="7757091" y="2619889"/>
            <a:ext cx="3476729" cy="2123658"/>
          </a:xfrm>
          <a:prstGeom prst="rect">
            <a:avLst/>
          </a:prstGeom>
          <a:noFill/>
          <a:ln>
            <a:solidFill>
              <a:srgbClr val="8DF2FB"/>
            </a:solidFill>
          </a:ln>
        </p:spPr>
        <p:txBody>
          <a:bodyPr wrap="square" rtlCol="1">
            <a:spAutoFit/>
          </a:bodyPr>
          <a:lstStyle/>
          <a:p>
            <a:pPr marL="342900" indent="-342900" algn="just">
              <a:buFontTx/>
              <a:buChar char="-"/>
            </a:pPr>
            <a:r>
              <a:rPr lang="ar-SA" sz="4400" dirty="0">
                <a:solidFill>
                  <a:srgbClr val="EDFBFC"/>
                </a:solidFill>
              </a:rPr>
              <a:t>طريقة الإزاحة.</a:t>
            </a:r>
          </a:p>
          <a:p>
            <a:pPr algn="just"/>
            <a:r>
              <a:rPr lang="ar-SA" sz="4400" dirty="0">
                <a:solidFill>
                  <a:srgbClr val="EDFBFC"/>
                </a:solidFill>
              </a:rPr>
              <a:t>- طريقة قيصر.</a:t>
            </a:r>
          </a:p>
          <a:p>
            <a:pPr algn="just"/>
            <a:r>
              <a:rPr lang="ar-SA" sz="4400" dirty="0">
                <a:solidFill>
                  <a:srgbClr val="EDFBFC"/>
                </a:solidFill>
              </a:rPr>
              <a:t>- طريقة </a:t>
            </a:r>
            <a:r>
              <a:rPr lang="ar-SA" sz="4400" dirty="0" err="1">
                <a:solidFill>
                  <a:srgbClr val="EDFBFC"/>
                </a:solidFill>
              </a:rPr>
              <a:t>فيجنر</a:t>
            </a:r>
            <a:r>
              <a:rPr lang="ar-SA" sz="4400" dirty="0">
                <a:solidFill>
                  <a:srgbClr val="EDFBFC"/>
                </a:solidFill>
              </a:rPr>
              <a:t>.</a:t>
            </a:r>
          </a:p>
        </p:txBody>
      </p:sp>
      <p:sp>
        <p:nvSpPr>
          <p:cNvPr id="11" name="مربع نص 10">
            <a:extLst>
              <a:ext uri="{FF2B5EF4-FFF2-40B4-BE49-F238E27FC236}">
                <a16:creationId xmlns:a16="http://schemas.microsoft.com/office/drawing/2014/main" id="{AA1E9E58-CCAB-2CD0-C5FA-302498D337D6}"/>
              </a:ext>
            </a:extLst>
          </p:cNvPr>
          <p:cNvSpPr txBox="1"/>
          <p:nvPr/>
        </p:nvSpPr>
        <p:spPr>
          <a:xfrm>
            <a:off x="3952588" y="91050"/>
            <a:ext cx="4286824" cy="1569660"/>
          </a:xfrm>
          <a:prstGeom prst="rect">
            <a:avLst/>
          </a:prstGeom>
          <a:noFill/>
        </p:spPr>
        <p:txBody>
          <a:bodyPr wrap="square" rtlCol="1">
            <a:spAutoFit/>
          </a:bodyPr>
          <a:lstStyle/>
          <a:p>
            <a:pPr algn="ctr"/>
            <a:r>
              <a:rPr lang="ar-SA" sz="9600" dirty="0">
                <a:solidFill>
                  <a:srgbClr val="EDFBFC"/>
                </a:solidFill>
              </a:rPr>
              <a:t>مقدمة</a:t>
            </a:r>
          </a:p>
        </p:txBody>
      </p:sp>
    </p:spTree>
    <p:extLst>
      <p:ext uri="{BB962C8B-B14F-4D97-AF65-F5344CB8AC3E}">
        <p14:creationId xmlns:p14="http://schemas.microsoft.com/office/powerpoint/2010/main" val="20166239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Blur radius="13"/>
                    </a14:imgEffect>
                  </a14:imgLayer>
                </a14:imgProps>
              </a:ext>
            </a:extLst>
          </a:blip>
          <a:srcRect/>
          <a:stretch>
            <a:fillRect l="-6000" r="-6000"/>
          </a:stretch>
        </a:blipFill>
        <a:effectLst/>
      </p:bgPr>
    </p:bg>
    <p:spTree>
      <p:nvGrpSpPr>
        <p:cNvPr id="1" name=""/>
        <p:cNvGrpSpPr/>
        <p:nvPr/>
      </p:nvGrpSpPr>
      <p:grpSpPr>
        <a:xfrm>
          <a:off x="0" y="0"/>
          <a:ext cx="0" cy="0"/>
          <a:chOff x="0" y="0"/>
          <a:chExt cx="0" cy="0"/>
        </a:xfrm>
      </p:grpSpPr>
      <p:sp>
        <p:nvSpPr>
          <p:cNvPr id="22" name="مربع نص 21">
            <a:extLst>
              <a:ext uri="{FF2B5EF4-FFF2-40B4-BE49-F238E27FC236}">
                <a16:creationId xmlns:a16="http://schemas.microsoft.com/office/drawing/2014/main" id="{9B0871CE-B434-CD26-8847-445890F07A95}"/>
              </a:ext>
            </a:extLst>
          </p:cNvPr>
          <p:cNvSpPr txBox="1"/>
          <p:nvPr/>
        </p:nvSpPr>
        <p:spPr>
          <a:xfrm>
            <a:off x="89417" y="6246811"/>
            <a:ext cx="804887" cy="400110"/>
          </a:xfrm>
          <a:prstGeom prst="rect">
            <a:avLst/>
          </a:prstGeom>
          <a:noFill/>
          <a:ln>
            <a:solidFill>
              <a:srgbClr val="8DF2FB"/>
            </a:solidFill>
          </a:ln>
        </p:spPr>
        <p:txBody>
          <a:bodyPr wrap="square" rtlCol="1">
            <a:spAutoFit/>
          </a:bodyPr>
          <a:lstStyle/>
          <a:p>
            <a:r>
              <a:rPr lang="en-US" sz="2000" dirty="0" smtClean="0">
                <a:solidFill>
                  <a:srgbClr val="EDFBFC"/>
                </a:solidFill>
              </a:rPr>
              <a:t>5/15</a:t>
            </a:r>
            <a:endParaRPr lang="ar-SA" sz="2000" dirty="0">
              <a:solidFill>
                <a:srgbClr val="EDFBFC"/>
              </a:solidFill>
            </a:endParaRPr>
          </a:p>
        </p:txBody>
      </p:sp>
      <p:sp>
        <p:nvSpPr>
          <p:cNvPr id="10" name="مربع نص 9">
            <a:extLst>
              <a:ext uri="{FF2B5EF4-FFF2-40B4-BE49-F238E27FC236}">
                <a16:creationId xmlns:a16="http://schemas.microsoft.com/office/drawing/2014/main" id="{703E0492-3F5E-FB14-0A4E-396FBC2E2E9F}"/>
              </a:ext>
            </a:extLst>
          </p:cNvPr>
          <p:cNvSpPr txBox="1"/>
          <p:nvPr/>
        </p:nvSpPr>
        <p:spPr>
          <a:xfrm>
            <a:off x="8400109" y="3313766"/>
            <a:ext cx="3476729" cy="830997"/>
          </a:xfrm>
          <a:prstGeom prst="rect">
            <a:avLst/>
          </a:prstGeom>
          <a:noFill/>
          <a:ln>
            <a:solidFill>
              <a:srgbClr val="8DF2FB"/>
            </a:solidFill>
          </a:ln>
        </p:spPr>
        <p:txBody>
          <a:bodyPr wrap="square" rtlCol="1">
            <a:spAutoFit/>
          </a:bodyPr>
          <a:lstStyle/>
          <a:p>
            <a:r>
              <a:rPr lang="ar-SA" sz="2400" dirty="0">
                <a:solidFill>
                  <a:srgbClr val="EDFBFC"/>
                </a:solidFill>
              </a:rPr>
              <a:t>طريقة الإزاحة ، وقيصر</a:t>
            </a:r>
          </a:p>
          <a:p>
            <a:r>
              <a:rPr lang="ar-SA" sz="2400" dirty="0" err="1">
                <a:solidFill>
                  <a:srgbClr val="EDFBFC"/>
                </a:solidFill>
              </a:rPr>
              <a:t>التشفيروفك</a:t>
            </a:r>
            <a:r>
              <a:rPr lang="ar-SA" sz="2400" dirty="0">
                <a:solidFill>
                  <a:srgbClr val="EDFBFC"/>
                </a:solidFill>
              </a:rPr>
              <a:t> التشفير</a:t>
            </a:r>
          </a:p>
        </p:txBody>
      </p:sp>
      <p:sp>
        <p:nvSpPr>
          <p:cNvPr id="11" name="مربع نص 10">
            <a:extLst>
              <a:ext uri="{FF2B5EF4-FFF2-40B4-BE49-F238E27FC236}">
                <a16:creationId xmlns:a16="http://schemas.microsoft.com/office/drawing/2014/main" id="{AA1E9E58-CCAB-2CD0-C5FA-302498D337D6}"/>
              </a:ext>
            </a:extLst>
          </p:cNvPr>
          <p:cNvSpPr txBox="1"/>
          <p:nvPr/>
        </p:nvSpPr>
        <p:spPr>
          <a:xfrm>
            <a:off x="3952588" y="91050"/>
            <a:ext cx="4286824" cy="1569660"/>
          </a:xfrm>
          <a:prstGeom prst="rect">
            <a:avLst/>
          </a:prstGeom>
          <a:noFill/>
        </p:spPr>
        <p:txBody>
          <a:bodyPr wrap="square" rtlCol="1">
            <a:spAutoFit/>
          </a:bodyPr>
          <a:lstStyle/>
          <a:p>
            <a:r>
              <a:rPr lang="ar-SA" sz="9600" dirty="0">
                <a:solidFill>
                  <a:srgbClr val="EDFBFC"/>
                </a:solidFill>
              </a:rPr>
              <a:t>الواجهات</a:t>
            </a:r>
          </a:p>
        </p:txBody>
      </p:sp>
      <p:pic>
        <p:nvPicPr>
          <p:cNvPr id="3" name="صورة 2">
            <a:extLst>
              <a:ext uri="{FF2B5EF4-FFF2-40B4-BE49-F238E27FC236}">
                <a16:creationId xmlns:a16="http://schemas.microsoft.com/office/drawing/2014/main" id="{C840DAA2-D20F-A3A9-3AF1-74E1C81527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53526" y="1660710"/>
            <a:ext cx="6185886" cy="4002165"/>
          </a:xfrm>
          <a:prstGeom prst="rect">
            <a:avLst/>
          </a:prstGeom>
        </p:spPr>
      </p:pic>
    </p:spTree>
    <p:extLst>
      <p:ext uri="{BB962C8B-B14F-4D97-AF65-F5344CB8AC3E}">
        <p14:creationId xmlns:p14="http://schemas.microsoft.com/office/powerpoint/2010/main" val="1395960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Blur radius="13"/>
                    </a14:imgEffect>
                  </a14:imgLayer>
                </a14:imgProps>
              </a:ext>
            </a:extLst>
          </a:blip>
          <a:srcRect/>
          <a:stretch>
            <a:fillRect l="-6000" r="-6000"/>
          </a:stretch>
        </a:blipFill>
        <a:effectLst/>
      </p:bgPr>
    </p:bg>
    <p:spTree>
      <p:nvGrpSpPr>
        <p:cNvPr id="1" name=""/>
        <p:cNvGrpSpPr/>
        <p:nvPr/>
      </p:nvGrpSpPr>
      <p:grpSpPr>
        <a:xfrm>
          <a:off x="0" y="0"/>
          <a:ext cx="0" cy="0"/>
          <a:chOff x="0" y="0"/>
          <a:chExt cx="0" cy="0"/>
        </a:xfrm>
      </p:grpSpPr>
      <p:sp>
        <p:nvSpPr>
          <p:cNvPr id="22" name="مربع نص 21">
            <a:extLst>
              <a:ext uri="{FF2B5EF4-FFF2-40B4-BE49-F238E27FC236}">
                <a16:creationId xmlns:a16="http://schemas.microsoft.com/office/drawing/2014/main" id="{9B0871CE-B434-CD26-8847-445890F07A95}"/>
              </a:ext>
            </a:extLst>
          </p:cNvPr>
          <p:cNvSpPr txBox="1"/>
          <p:nvPr/>
        </p:nvSpPr>
        <p:spPr>
          <a:xfrm>
            <a:off x="89417" y="6246811"/>
            <a:ext cx="804887" cy="400110"/>
          </a:xfrm>
          <a:prstGeom prst="rect">
            <a:avLst/>
          </a:prstGeom>
          <a:noFill/>
          <a:ln>
            <a:solidFill>
              <a:srgbClr val="8DF2FB"/>
            </a:solidFill>
          </a:ln>
        </p:spPr>
        <p:txBody>
          <a:bodyPr wrap="square" rtlCol="1">
            <a:spAutoFit/>
          </a:bodyPr>
          <a:lstStyle/>
          <a:p>
            <a:r>
              <a:rPr lang="en-US" sz="2000" dirty="0" smtClean="0">
                <a:solidFill>
                  <a:srgbClr val="EDFBFC"/>
                </a:solidFill>
              </a:rPr>
              <a:t>6/15</a:t>
            </a:r>
            <a:endParaRPr lang="ar-SA" sz="2000" dirty="0">
              <a:solidFill>
                <a:srgbClr val="EDFBFC"/>
              </a:solidFill>
            </a:endParaRPr>
          </a:p>
        </p:txBody>
      </p:sp>
      <p:sp>
        <p:nvSpPr>
          <p:cNvPr id="10" name="مربع نص 9">
            <a:extLst>
              <a:ext uri="{FF2B5EF4-FFF2-40B4-BE49-F238E27FC236}">
                <a16:creationId xmlns:a16="http://schemas.microsoft.com/office/drawing/2014/main" id="{703E0492-3F5E-FB14-0A4E-396FBC2E2E9F}"/>
              </a:ext>
            </a:extLst>
          </p:cNvPr>
          <p:cNvSpPr txBox="1"/>
          <p:nvPr/>
        </p:nvSpPr>
        <p:spPr>
          <a:xfrm>
            <a:off x="8400107" y="2924268"/>
            <a:ext cx="3476729" cy="461665"/>
          </a:xfrm>
          <a:prstGeom prst="rect">
            <a:avLst/>
          </a:prstGeom>
          <a:noFill/>
          <a:ln>
            <a:solidFill>
              <a:srgbClr val="8DF2FB"/>
            </a:solidFill>
          </a:ln>
        </p:spPr>
        <p:txBody>
          <a:bodyPr wrap="square" rtlCol="1">
            <a:spAutoFit/>
          </a:bodyPr>
          <a:lstStyle/>
          <a:p>
            <a:r>
              <a:rPr lang="ar-SA" sz="2400" dirty="0">
                <a:solidFill>
                  <a:srgbClr val="EDFBFC"/>
                </a:solidFill>
              </a:rPr>
              <a:t>ادخال المفتاح في طريقة الازاحة</a:t>
            </a:r>
          </a:p>
        </p:txBody>
      </p:sp>
      <p:sp>
        <p:nvSpPr>
          <p:cNvPr id="11" name="مربع نص 10">
            <a:extLst>
              <a:ext uri="{FF2B5EF4-FFF2-40B4-BE49-F238E27FC236}">
                <a16:creationId xmlns:a16="http://schemas.microsoft.com/office/drawing/2014/main" id="{AA1E9E58-CCAB-2CD0-C5FA-302498D337D6}"/>
              </a:ext>
            </a:extLst>
          </p:cNvPr>
          <p:cNvSpPr txBox="1"/>
          <p:nvPr/>
        </p:nvSpPr>
        <p:spPr>
          <a:xfrm>
            <a:off x="3952588" y="91050"/>
            <a:ext cx="4286824" cy="1569660"/>
          </a:xfrm>
          <a:prstGeom prst="rect">
            <a:avLst/>
          </a:prstGeom>
          <a:noFill/>
        </p:spPr>
        <p:txBody>
          <a:bodyPr wrap="square" rtlCol="1">
            <a:spAutoFit/>
          </a:bodyPr>
          <a:lstStyle/>
          <a:p>
            <a:r>
              <a:rPr lang="ar-SA" sz="9600" dirty="0">
                <a:solidFill>
                  <a:srgbClr val="EDFBFC"/>
                </a:solidFill>
              </a:rPr>
              <a:t>الواجهات</a:t>
            </a:r>
          </a:p>
        </p:txBody>
      </p:sp>
      <p:sp>
        <p:nvSpPr>
          <p:cNvPr id="6" name="مربع نص 5">
            <a:extLst>
              <a:ext uri="{FF2B5EF4-FFF2-40B4-BE49-F238E27FC236}">
                <a16:creationId xmlns:a16="http://schemas.microsoft.com/office/drawing/2014/main" id="{32736ED2-4B29-6B45-34A9-EF8E3251D926}"/>
              </a:ext>
            </a:extLst>
          </p:cNvPr>
          <p:cNvSpPr txBox="1"/>
          <p:nvPr/>
        </p:nvSpPr>
        <p:spPr>
          <a:xfrm>
            <a:off x="8400107" y="4985838"/>
            <a:ext cx="3476729" cy="461665"/>
          </a:xfrm>
          <a:prstGeom prst="rect">
            <a:avLst/>
          </a:prstGeom>
          <a:noFill/>
          <a:ln>
            <a:solidFill>
              <a:srgbClr val="8DF2FB"/>
            </a:solidFill>
          </a:ln>
        </p:spPr>
        <p:txBody>
          <a:bodyPr wrap="square" rtlCol="1">
            <a:spAutoFit/>
          </a:bodyPr>
          <a:lstStyle/>
          <a:p>
            <a:r>
              <a:rPr lang="ar-SA" sz="2400" dirty="0">
                <a:solidFill>
                  <a:srgbClr val="EDFBFC"/>
                </a:solidFill>
              </a:rPr>
              <a:t>ادخال المفتاح في طريقة قيصر</a:t>
            </a:r>
          </a:p>
        </p:txBody>
      </p:sp>
      <p:pic>
        <p:nvPicPr>
          <p:cNvPr id="4" name="صورة 3">
            <a:extLst>
              <a:ext uri="{FF2B5EF4-FFF2-40B4-BE49-F238E27FC236}">
                <a16:creationId xmlns:a16="http://schemas.microsoft.com/office/drawing/2014/main" id="{D69F1FD6-CEDC-0749-EECB-6CFC4B7017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86512" y="4340371"/>
            <a:ext cx="4152900" cy="1752600"/>
          </a:xfrm>
          <a:prstGeom prst="rect">
            <a:avLst/>
          </a:prstGeom>
        </p:spPr>
      </p:pic>
      <p:pic>
        <p:nvPicPr>
          <p:cNvPr id="7" name="صورة 6">
            <a:extLst>
              <a:ext uri="{FF2B5EF4-FFF2-40B4-BE49-F238E27FC236}">
                <a16:creationId xmlns:a16="http://schemas.microsoft.com/office/drawing/2014/main" id="{1D89CDA1-6B0E-79DD-70C4-8212BF53CBE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96037" y="2283564"/>
            <a:ext cx="4143375" cy="1743075"/>
          </a:xfrm>
          <a:prstGeom prst="rect">
            <a:avLst/>
          </a:prstGeom>
        </p:spPr>
      </p:pic>
    </p:spTree>
    <p:extLst>
      <p:ext uri="{BB962C8B-B14F-4D97-AF65-F5344CB8AC3E}">
        <p14:creationId xmlns:p14="http://schemas.microsoft.com/office/powerpoint/2010/main" val="3380044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Blur radius="13"/>
                    </a14:imgEffect>
                  </a14:imgLayer>
                </a14:imgProps>
              </a:ext>
            </a:extLst>
          </a:blip>
          <a:srcRect/>
          <a:stretch>
            <a:fillRect l="-6000" r="-6000"/>
          </a:stretch>
        </a:blipFill>
        <a:effectLst/>
      </p:bgPr>
    </p:bg>
    <p:spTree>
      <p:nvGrpSpPr>
        <p:cNvPr id="1" name=""/>
        <p:cNvGrpSpPr/>
        <p:nvPr/>
      </p:nvGrpSpPr>
      <p:grpSpPr>
        <a:xfrm>
          <a:off x="0" y="0"/>
          <a:ext cx="0" cy="0"/>
          <a:chOff x="0" y="0"/>
          <a:chExt cx="0" cy="0"/>
        </a:xfrm>
      </p:grpSpPr>
      <p:sp>
        <p:nvSpPr>
          <p:cNvPr id="22" name="مربع نص 21">
            <a:extLst>
              <a:ext uri="{FF2B5EF4-FFF2-40B4-BE49-F238E27FC236}">
                <a16:creationId xmlns:a16="http://schemas.microsoft.com/office/drawing/2014/main" id="{9B0871CE-B434-CD26-8847-445890F07A95}"/>
              </a:ext>
            </a:extLst>
          </p:cNvPr>
          <p:cNvSpPr txBox="1"/>
          <p:nvPr/>
        </p:nvSpPr>
        <p:spPr>
          <a:xfrm>
            <a:off x="89417" y="6246811"/>
            <a:ext cx="804887" cy="400110"/>
          </a:xfrm>
          <a:prstGeom prst="rect">
            <a:avLst/>
          </a:prstGeom>
          <a:noFill/>
          <a:ln>
            <a:solidFill>
              <a:srgbClr val="8DF2FB"/>
            </a:solidFill>
          </a:ln>
        </p:spPr>
        <p:txBody>
          <a:bodyPr wrap="square" rtlCol="1">
            <a:spAutoFit/>
          </a:bodyPr>
          <a:lstStyle/>
          <a:p>
            <a:r>
              <a:rPr lang="en-US" sz="2000" dirty="0" smtClean="0">
                <a:solidFill>
                  <a:srgbClr val="EDFBFC"/>
                </a:solidFill>
              </a:rPr>
              <a:t>7/15</a:t>
            </a:r>
            <a:endParaRPr lang="ar-SA" sz="2000" dirty="0">
              <a:solidFill>
                <a:srgbClr val="EDFBFC"/>
              </a:solidFill>
            </a:endParaRPr>
          </a:p>
        </p:txBody>
      </p:sp>
      <p:sp>
        <p:nvSpPr>
          <p:cNvPr id="10" name="مربع نص 9">
            <a:extLst>
              <a:ext uri="{FF2B5EF4-FFF2-40B4-BE49-F238E27FC236}">
                <a16:creationId xmlns:a16="http://schemas.microsoft.com/office/drawing/2014/main" id="{703E0492-3F5E-FB14-0A4E-396FBC2E2E9F}"/>
              </a:ext>
            </a:extLst>
          </p:cNvPr>
          <p:cNvSpPr txBox="1"/>
          <p:nvPr/>
        </p:nvSpPr>
        <p:spPr>
          <a:xfrm>
            <a:off x="8420206" y="3354153"/>
            <a:ext cx="3476729" cy="461665"/>
          </a:xfrm>
          <a:prstGeom prst="rect">
            <a:avLst/>
          </a:prstGeom>
          <a:noFill/>
          <a:ln>
            <a:solidFill>
              <a:srgbClr val="8DF2FB"/>
            </a:solidFill>
          </a:ln>
        </p:spPr>
        <p:txBody>
          <a:bodyPr wrap="square" rtlCol="1">
            <a:spAutoFit/>
          </a:bodyPr>
          <a:lstStyle/>
          <a:p>
            <a:r>
              <a:rPr lang="ar-SA" sz="2400" dirty="0">
                <a:solidFill>
                  <a:srgbClr val="EDFBFC"/>
                </a:solidFill>
              </a:rPr>
              <a:t>طريقة </a:t>
            </a:r>
            <a:r>
              <a:rPr lang="ar-SA" sz="2400" dirty="0" err="1">
                <a:solidFill>
                  <a:srgbClr val="EDFBFC"/>
                </a:solidFill>
              </a:rPr>
              <a:t>فيجنر</a:t>
            </a:r>
            <a:r>
              <a:rPr lang="ar-SA" sz="2400" dirty="0">
                <a:solidFill>
                  <a:srgbClr val="EDFBFC"/>
                </a:solidFill>
              </a:rPr>
              <a:t> للتشفير</a:t>
            </a:r>
          </a:p>
        </p:txBody>
      </p:sp>
      <p:sp>
        <p:nvSpPr>
          <p:cNvPr id="11" name="مربع نص 10">
            <a:extLst>
              <a:ext uri="{FF2B5EF4-FFF2-40B4-BE49-F238E27FC236}">
                <a16:creationId xmlns:a16="http://schemas.microsoft.com/office/drawing/2014/main" id="{AA1E9E58-CCAB-2CD0-C5FA-302498D337D6}"/>
              </a:ext>
            </a:extLst>
          </p:cNvPr>
          <p:cNvSpPr txBox="1"/>
          <p:nvPr/>
        </p:nvSpPr>
        <p:spPr>
          <a:xfrm>
            <a:off x="3952588" y="91050"/>
            <a:ext cx="4286824" cy="1569660"/>
          </a:xfrm>
          <a:prstGeom prst="rect">
            <a:avLst/>
          </a:prstGeom>
          <a:noFill/>
        </p:spPr>
        <p:txBody>
          <a:bodyPr wrap="square" rtlCol="1">
            <a:spAutoFit/>
          </a:bodyPr>
          <a:lstStyle/>
          <a:p>
            <a:r>
              <a:rPr lang="ar-SA" sz="9600" dirty="0">
                <a:solidFill>
                  <a:srgbClr val="EDFBFC"/>
                </a:solidFill>
              </a:rPr>
              <a:t>الواجهات</a:t>
            </a:r>
          </a:p>
        </p:txBody>
      </p:sp>
      <p:pic>
        <p:nvPicPr>
          <p:cNvPr id="4" name="صورة 3">
            <a:extLst>
              <a:ext uri="{FF2B5EF4-FFF2-40B4-BE49-F238E27FC236}">
                <a16:creationId xmlns:a16="http://schemas.microsoft.com/office/drawing/2014/main" id="{191516CD-2E63-854A-F9FA-B8B901C03C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9719" y="1738365"/>
            <a:ext cx="6219693" cy="4140230"/>
          </a:xfrm>
          <a:prstGeom prst="rect">
            <a:avLst/>
          </a:prstGeom>
        </p:spPr>
      </p:pic>
    </p:spTree>
    <p:extLst>
      <p:ext uri="{BB962C8B-B14F-4D97-AF65-F5344CB8AC3E}">
        <p14:creationId xmlns:p14="http://schemas.microsoft.com/office/powerpoint/2010/main" val="4108443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Blur radius="13"/>
                    </a14:imgEffect>
                  </a14:imgLayer>
                </a14:imgProps>
              </a:ext>
            </a:extLst>
          </a:blip>
          <a:srcRect/>
          <a:stretch>
            <a:fillRect l="-6000" r="-6000"/>
          </a:stretch>
        </a:blipFill>
        <a:effectLst/>
      </p:bgPr>
    </p:bg>
    <p:spTree>
      <p:nvGrpSpPr>
        <p:cNvPr id="1" name=""/>
        <p:cNvGrpSpPr/>
        <p:nvPr/>
      </p:nvGrpSpPr>
      <p:grpSpPr>
        <a:xfrm>
          <a:off x="0" y="0"/>
          <a:ext cx="0" cy="0"/>
          <a:chOff x="0" y="0"/>
          <a:chExt cx="0" cy="0"/>
        </a:xfrm>
      </p:grpSpPr>
      <p:sp>
        <p:nvSpPr>
          <p:cNvPr id="22" name="مربع نص 21">
            <a:extLst>
              <a:ext uri="{FF2B5EF4-FFF2-40B4-BE49-F238E27FC236}">
                <a16:creationId xmlns:a16="http://schemas.microsoft.com/office/drawing/2014/main" id="{9B0871CE-B434-CD26-8847-445890F07A95}"/>
              </a:ext>
            </a:extLst>
          </p:cNvPr>
          <p:cNvSpPr txBox="1"/>
          <p:nvPr/>
        </p:nvSpPr>
        <p:spPr>
          <a:xfrm>
            <a:off x="89417" y="6246811"/>
            <a:ext cx="804887" cy="400110"/>
          </a:xfrm>
          <a:prstGeom prst="rect">
            <a:avLst/>
          </a:prstGeom>
          <a:noFill/>
          <a:ln>
            <a:solidFill>
              <a:srgbClr val="8DF2FB"/>
            </a:solidFill>
          </a:ln>
        </p:spPr>
        <p:txBody>
          <a:bodyPr wrap="square" rtlCol="1">
            <a:spAutoFit/>
          </a:bodyPr>
          <a:lstStyle/>
          <a:p>
            <a:r>
              <a:rPr lang="en-US" sz="2000" dirty="0" smtClean="0">
                <a:solidFill>
                  <a:srgbClr val="EDFBFC"/>
                </a:solidFill>
              </a:rPr>
              <a:t>8/15</a:t>
            </a:r>
            <a:endParaRPr lang="ar-SA" sz="2000" dirty="0">
              <a:solidFill>
                <a:srgbClr val="EDFBFC"/>
              </a:solidFill>
            </a:endParaRPr>
          </a:p>
        </p:txBody>
      </p:sp>
      <p:sp>
        <p:nvSpPr>
          <p:cNvPr id="10" name="مربع نص 9">
            <a:extLst>
              <a:ext uri="{FF2B5EF4-FFF2-40B4-BE49-F238E27FC236}">
                <a16:creationId xmlns:a16="http://schemas.microsoft.com/office/drawing/2014/main" id="{703E0492-3F5E-FB14-0A4E-396FBC2E2E9F}"/>
              </a:ext>
            </a:extLst>
          </p:cNvPr>
          <p:cNvSpPr txBox="1"/>
          <p:nvPr/>
        </p:nvSpPr>
        <p:spPr>
          <a:xfrm>
            <a:off x="8433916" y="2800156"/>
            <a:ext cx="3476729" cy="1938992"/>
          </a:xfrm>
          <a:prstGeom prst="rect">
            <a:avLst/>
          </a:prstGeom>
          <a:noFill/>
          <a:ln>
            <a:solidFill>
              <a:srgbClr val="8DF2FB"/>
            </a:solidFill>
          </a:ln>
        </p:spPr>
        <p:txBody>
          <a:bodyPr wrap="square" rtlCol="1">
            <a:spAutoFit/>
          </a:bodyPr>
          <a:lstStyle/>
          <a:p>
            <a:r>
              <a:rPr lang="ar-SA" sz="2400" dirty="0">
                <a:solidFill>
                  <a:srgbClr val="EDFBFC"/>
                </a:solidFill>
              </a:rPr>
              <a:t>مثال تطبيقي حيث تم ادخال كلمة</a:t>
            </a:r>
          </a:p>
          <a:p>
            <a:r>
              <a:rPr lang="ar-SA" sz="2400" dirty="0">
                <a:solidFill>
                  <a:srgbClr val="EDFBFC"/>
                </a:solidFill>
              </a:rPr>
              <a:t>(</a:t>
            </a:r>
            <a:r>
              <a:rPr lang="en-US" sz="2400" dirty="0">
                <a:solidFill>
                  <a:srgbClr val="EDFBFC"/>
                </a:solidFill>
              </a:rPr>
              <a:t>APPLE</a:t>
            </a:r>
            <a:r>
              <a:rPr lang="ar-SA" sz="2400" dirty="0">
                <a:solidFill>
                  <a:srgbClr val="EDFBFC"/>
                </a:solidFill>
              </a:rPr>
              <a:t>) </a:t>
            </a:r>
          </a:p>
          <a:p>
            <a:r>
              <a:rPr lang="ar-SA" sz="2400" dirty="0">
                <a:solidFill>
                  <a:srgbClr val="EDFBFC"/>
                </a:solidFill>
              </a:rPr>
              <a:t>مع مفتاح الازاحة قيمته (</a:t>
            </a:r>
            <a:r>
              <a:rPr lang="en-US" sz="2400" dirty="0">
                <a:solidFill>
                  <a:srgbClr val="EDFBFC"/>
                </a:solidFill>
              </a:rPr>
              <a:t>4</a:t>
            </a:r>
            <a:r>
              <a:rPr lang="ar-SA" sz="2400" dirty="0">
                <a:solidFill>
                  <a:srgbClr val="EDFBFC"/>
                </a:solidFill>
              </a:rPr>
              <a:t>) لتظهر لنا نتيجة التشفير</a:t>
            </a:r>
          </a:p>
          <a:p>
            <a:r>
              <a:rPr lang="ar-SA" sz="2400" dirty="0">
                <a:solidFill>
                  <a:srgbClr val="EDFBFC"/>
                </a:solidFill>
              </a:rPr>
              <a:t> (</a:t>
            </a:r>
            <a:r>
              <a:rPr lang="en-US" sz="2400" dirty="0">
                <a:solidFill>
                  <a:srgbClr val="EDFBFC"/>
                </a:solidFill>
              </a:rPr>
              <a:t>ETTPI</a:t>
            </a:r>
            <a:r>
              <a:rPr lang="ar-SA" sz="2400" dirty="0">
                <a:solidFill>
                  <a:srgbClr val="EDFBFC"/>
                </a:solidFill>
              </a:rPr>
              <a:t>)</a:t>
            </a:r>
          </a:p>
        </p:txBody>
      </p:sp>
      <p:sp>
        <p:nvSpPr>
          <p:cNvPr id="11" name="مربع نص 10">
            <a:extLst>
              <a:ext uri="{FF2B5EF4-FFF2-40B4-BE49-F238E27FC236}">
                <a16:creationId xmlns:a16="http://schemas.microsoft.com/office/drawing/2014/main" id="{AA1E9E58-CCAB-2CD0-C5FA-302498D337D6}"/>
              </a:ext>
            </a:extLst>
          </p:cNvPr>
          <p:cNvSpPr txBox="1"/>
          <p:nvPr/>
        </p:nvSpPr>
        <p:spPr>
          <a:xfrm>
            <a:off x="3952588" y="91050"/>
            <a:ext cx="4286824" cy="1569660"/>
          </a:xfrm>
          <a:prstGeom prst="rect">
            <a:avLst/>
          </a:prstGeom>
          <a:noFill/>
        </p:spPr>
        <p:txBody>
          <a:bodyPr wrap="square" rtlCol="1">
            <a:spAutoFit/>
          </a:bodyPr>
          <a:lstStyle/>
          <a:p>
            <a:pPr algn="ctr"/>
            <a:r>
              <a:rPr lang="ar-SA" sz="9600" dirty="0">
                <a:solidFill>
                  <a:srgbClr val="EDFBFC"/>
                </a:solidFill>
              </a:rPr>
              <a:t>الازاحة</a:t>
            </a:r>
          </a:p>
        </p:txBody>
      </p:sp>
      <p:pic>
        <p:nvPicPr>
          <p:cNvPr id="3" name="صورة 2">
            <a:extLst>
              <a:ext uri="{FF2B5EF4-FFF2-40B4-BE49-F238E27FC236}">
                <a16:creationId xmlns:a16="http://schemas.microsoft.com/office/drawing/2014/main" id="{A266C47A-D0F8-AE73-2368-657472B93D56}"/>
              </a:ext>
            </a:extLst>
          </p:cNvPr>
          <p:cNvPicPr>
            <a:picLocks noChangeAspect="1"/>
          </p:cNvPicPr>
          <p:nvPr/>
        </p:nvPicPr>
        <p:blipFill rotWithShape="1">
          <a:blip r:embed="rId4">
            <a:extLst>
              <a:ext uri="{28A0092B-C50C-407E-A947-70E740481C1C}">
                <a14:useLocalDpi xmlns:a14="http://schemas.microsoft.com/office/drawing/2010/main" val="0"/>
              </a:ext>
            </a:extLst>
          </a:blip>
          <a:srcRect l="802" t="2261" r="1546" b="1758"/>
          <a:stretch/>
        </p:blipFill>
        <p:spPr>
          <a:xfrm>
            <a:off x="2120202" y="1868993"/>
            <a:ext cx="6119210" cy="3838472"/>
          </a:xfrm>
          <a:prstGeom prst="rect">
            <a:avLst/>
          </a:prstGeom>
        </p:spPr>
      </p:pic>
      <p:sp>
        <p:nvSpPr>
          <p:cNvPr id="5" name="مربع نص 4">
            <a:extLst>
              <a:ext uri="{FF2B5EF4-FFF2-40B4-BE49-F238E27FC236}">
                <a16:creationId xmlns:a16="http://schemas.microsoft.com/office/drawing/2014/main" id="{3D298038-4E5E-966D-2491-2DCCA0ED4BC3}"/>
              </a:ext>
            </a:extLst>
          </p:cNvPr>
          <p:cNvSpPr txBox="1"/>
          <p:nvPr/>
        </p:nvSpPr>
        <p:spPr>
          <a:xfrm>
            <a:off x="8433916" y="4863402"/>
            <a:ext cx="3476729" cy="307777"/>
          </a:xfrm>
          <a:prstGeom prst="rect">
            <a:avLst/>
          </a:prstGeom>
          <a:noFill/>
        </p:spPr>
        <p:txBody>
          <a:bodyPr wrap="square" rtlCol="1">
            <a:spAutoFit/>
          </a:bodyPr>
          <a:lstStyle/>
          <a:p>
            <a:r>
              <a:rPr lang="ar-SA" sz="1400" dirty="0">
                <a:solidFill>
                  <a:srgbClr val="EDFBFC"/>
                </a:solidFill>
              </a:rPr>
              <a:t>*المثال </a:t>
            </a:r>
            <a:r>
              <a:rPr lang="ar-SA" sz="1400" dirty="0" smtClean="0">
                <a:solidFill>
                  <a:srgbClr val="EDFBFC"/>
                </a:solidFill>
              </a:rPr>
              <a:t>مما </a:t>
            </a:r>
            <a:r>
              <a:rPr lang="ar-SA" sz="1400" dirty="0">
                <a:solidFill>
                  <a:srgbClr val="EDFBFC"/>
                </a:solidFill>
              </a:rPr>
              <a:t>تم دراسته بمقرر أمن المعلومات</a:t>
            </a:r>
          </a:p>
        </p:txBody>
      </p:sp>
      <p:sp>
        <p:nvSpPr>
          <p:cNvPr id="9" name="مربع نص 8">
            <a:extLst>
              <a:ext uri="{FF2B5EF4-FFF2-40B4-BE49-F238E27FC236}">
                <a16:creationId xmlns:a16="http://schemas.microsoft.com/office/drawing/2014/main" id="{15A0FF4B-A46D-C12A-DA95-F7C84AD93309}"/>
              </a:ext>
            </a:extLst>
          </p:cNvPr>
          <p:cNvSpPr txBox="1"/>
          <p:nvPr/>
        </p:nvSpPr>
        <p:spPr>
          <a:xfrm>
            <a:off x="-1250785" y="211079"/>
            <a:ext cx="4658613" cy="830997"/>
          </a:xfrm>
          <a:prstGeom prst="rect">
            <a:avLst/>
          </a:prstGeom>
          <a:noFill/>
        </p:spPr>
        <p:txBody>
          <a:bodyPr wrap="square" rtlCol="1">
            <a:spAutoFit/>
          </a:bodyPr>
          <a:lstStyle/>
          <a:p>
            <a:pPr algn="ctr"/>
            <a:r>
              <a:rPr lang="ar-SA" sz="4800" dirty="0">
                <a:solidFill>
                  <a:srgbClr val="EDFBFC"/>
                </a:solidFill>
                <a:latin typeface="Aldhabi" panose="01000000000000000000" pitchFamily="2" charset="-78"/>
                <a:cs typeface="Aldhabi" panose="01000000000000000000" pitchFamily="2" charset="-78"/>
              </a:rPr>
              <a:t>مثال تطبيقي</a:t>
            </a:r>
          </a:p>
        </p:txBody>
      </p:sp>
    </p:spTree>
    <p:extLst>
      <p:ext uri="{BB962C8B-B14F-4D97-AF65-F5344CB8AC3E}">
        <p14:creationId xmlns:p14="http://schemas.microsoft.com/office/powerpoint/2010/main" val="3759231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Blur radius="13"/>
                    </a14:imgEffect>
                  </a14:imgLayer>
                </a14:imgProps>
              </a:ext>
            </a:extLst>
          </a:blip>
          <a:srcRect/>
          <a:stretch>
            <a:fillRect l="-6000" r="-6000"/>
          </a:stretch>
        </a:blipFill>
        <a:effectLst/>
      </p:bgPr>
    </p:bg>
    <p:spTree>
      <p:nvGrpSpPr>
        <p:cNvPr id="1" name=""/>
        <p:cNvGrpSpPr/>
        <p:nvPr/>
      </p:nvGrpSpPr>
      <p:grpSpPr>
        <a:xfrm>
          <a:off x="0" y="0"/>
          <a:ext cx="0" cy="0"/>
          <a:chOff x="0" y="0"/>
          <a:chExt cx="0" cy="0"/>
        </a:xfrm>
      </p:grpSpPr>
      <p:sp>
        <p:nvSpPr>
          <p:cNvPr id="22" name="مربع نص 21">
            <a:extLst>
              <a:ext uri="{FF2B5EF4-FFF2-40B4-BE49-F238E27FC236}">
                <a16:creationId xmlns:a16="http://schemas.microsoft.com/office/drawing/2014/main" id="{9B0871CE-B434-CD26-8847-445890F07A95}"/>
              </a:ext>
            </a:extLst>
          </p:cNvPr>
          <p:cNvSpPr txBox="1"/>
          <p:nvPr/>
        </p:nvSpPr>
        <p:spPr>
          <a:xfrm>
            <a:off x="89417" y="6246811"/>
            <a:ext cx="804887" cy="400110"/>
          </a:xfrm>
          <a:prstGeom prst="rect">
            <a:avLst/>
          </a:prstGeom>
          <a:noFill/>
          <a:ln>
            <a:solidFill>
              <a:srgbClr val="8DF2FB"/>
            </a:solidFill>
          </a:ln>
        </p:spPr>
        <p:txBody>
          <a:bodyPr wrap="square" rtlCol="1">
            <a:spAutoFit/>
          </a:bodyPr>
          <a:lstStyle/>
          <a:p>
            <a:r>
              <a:rPr lang="en-US" sz="2000" dirty="0" smtClean="0">
                <a:solidFill>
                  <a:srgbClr val="EDFBFC"/>
                </a:solidFill>
              </a:rPr>
              <a:t>9/15</a:t>
            </a:r>
            <a:endParaRPr lang="ar-SA" sz="2000" dirty="0">
              <a:solidFill>
                <a:srgbClr val="EDFBFC"/>
              </a:solidFill>
            </a:endParaRPr>
          </a:p>
        </p:txBody>
      </p:sp>
      <p:sp>
        <p:nvSpPr>
          <p:cNvPr id="10" name="مربع نص 9">
            <a:extLst>
              <a:ext uri="{FF2B5EF4-FFF2-40B4-BE49-F238E27FC236}">
                <a16:creationId xmlns:a16="http://schemas.microsoft.com/office/drawing/2014/main" id="{703E0492-3F5E-FB14-0A4E-396FBC2E2E9F}"/>
              </a:ext>
            </a:extLst>
          </p:cNvPr>
          <p:cNvSpPr txBox="1"/>
          <p:nvPr/>
        </p:nvSpPr>
        <p:spPr>
          <a:xfrm>
            <a:off x="8433916" y="2800156"/>
            <a:ext cx="3476729" cy="1938992"/>
          </a:xfrm>
          <a:prstGeom prst="rect">
            <a:avLst/>
          </a:prstGeom>
          <a:noFill/>
          <a:ln>
            <a:solidFill>
              <a:srgbClr val="8DF2FB"/>
            </a:solidFill>
          </a:ln>
        </p:spPr>
        <p:txBody>
          <a:bodyPr wrap="square" rtlCol="1">
            <a:spAutoFit/>
          </a:bodyPr>
          <a:lstStyle/>
          <a:p>
            <a:r>
              <a:rPr lang="ar-SA" sz="2400" dirty="0">
                <a:solidFill>
                  <a:srgbClr val="EDFBFC"/>
                </a:solidFill>
              </a:rPr>
              <a:t>مثال تطبيقي حيث تم ادخال كلمة</a:t>
            </a:r>
          </a:p>
          <a:p>
            <a:r>
              <a:rPr lang="ar-SA" sz="2400" dirty="0">
                <a:solidFill>
                  <a:srgbClr val="EDFBFC"/>
                </a:solidFill>
              </a:rPr>
              <a:t>(</a:t>
            </a:r>
            <a:r>
              <a:rPr lang="en-US" sz="2400" dirty="0">
                <a:solidFill>
                  <a:srgbClr val="EDFBFC"/>
                </a:solidFill>
              </a:rPr>
              <a:t>HELLO</a:t>
            </a:r>
            <a:r>
              <a:rPr lang="ar-SA" sz="2400" dirty="0">
                <a:solidFill>
                  <a:srgbClr val="EDFBFC"/>
                </a:solidFill>
              </a:rPr>
              <a:t>) </a:t>
            </a:r>
          </a:p>
          <a:p>
            <a:r>
              <a:rPr lang="ar-SA" sz="2400" dirty="0">
                <a:solidFill>
                  <a:srgbClr val="EDFBFC"/>
                </a:solidFill>
              </a:rPr>
              <a:t>مع مفتاح قيمته (</a:t>
            </a:r>
            <a:r>
              <a:rPr lang="en-US" sz="2400" dirty="0">
                <a:solidFill>
                  <a:srgbClr val="EDFBFC"/>
                </a:solidFill>
              </a:rPr>
              <a:t>3</a:t>
            </a:r>
            <a:r>
              <a:rPr lang="ar-SA" sz="2400" dirty="0">
                <a:solidFill>
                  <a:srgbClr val="EDFBFC"/>
                </a:solidFill>
              </a:rPr>
              <a:t>)</a:t>
            </a:r>
          </a:p>
          <a:p>
            <a:r>
              <a:rPr lang="ar-SA" sz="2400" dirty="0">
                <a:solidFill>
                  <a:srgbClr val="EDFBFC"/>
                </a:solidFill>
              </a:rPr>
              <a:t> لتظهر لنا نتيجة التشفير</a:t>
            </a:r>
          </a:p>
          <a:p>
            <a:r>
              <a:rPr lang="ar-SA" sz="2400" dirty="0">
                <a:solidFill>
                  <a:srgbClr val="EDFBFC"/>
                </a:solidFill>
              </a:rPr>
              <a:t> (</a:t>
            </a:r>
            <a:r>
              <a:rPr lang="en-US" sz="2400" dirty="0">
                <a:solidFill>
                  <a:srgbClr val="EDFBFC"/>
                </a:solidFill>
              </a:rPr>
              <a:t>KHOOR</a:t>
            </a:r>
            <a:r>
              <a:rPr lang="ar-SA" sz="2400" dirty="0">
                <a:solidFill>
                  <a:srgbClr val="EDFBFC"/>
                </a:solidFill>
              </a:rPr>
              <a:t>)</a:t>
            </a:r>
          </a:p>
        </p:txBody>
      </p:sp>
      <p:sp>
        <p:nvSpPr>
          <p:cNvPr id="11" name="مربع نص 10">
            <a:extLst>
              <a:ext uri="{FF2B5EF4-FFF2-40B4-BE49-F238E27FC236}">
                <a16:creationId xmlns:a16="http://schemas.microsoft.com/office/drawing/2014/main" id="{AA1E9E58-CCAB-2CD0-C5FA-302498D337D6}"/>
              </a:ext>
            </a:extLst>
          </p:cNvPr>
          <p:cNvSpPr txBox="1"/>
          <p:nvPr/>
        </p:nvSpPr>
        <p:spPr>
          <a:xfrm>
            <a:off x="3952588" y="91050"/>
            <a:ext cx="4286824" cy="1569660"/>
          </a:xfrm>
          <a:prstGeom prst="rect">
            <a:avLst/>
          </a:prstGeom>
          <a:noFill/>
        </p:spPr>
        <p:txBody>
          <a:bodyPr wrap="square" rtlCol="1">
            <a:spAutoFit/>
          </a:bodyPr>
          <a:lstStyle/>
          <a:p>
            <a:pPr algn="ctr"/>
            <a:r>
              <a:rPr lang="ar-SA" sz="9600" dirty="0">
                <a:solidFill>
                  <a:srgbClr val="EDFBFC"/>
                </a:solidFill>
              </a:rPr>
              <a:t>قيصر</a:t>
            </a:r>
          </a:p>
        </p:txBody>
      </p:sp>
      <p:sp>
        <p:nvSpPr>
          <p:cNvPr id="5" name="مربع نص 4">
            <a:extLst>
              <a:ext uri="{FF2B5EF4-FFF2-40B4-BE49-F238E27FC236}">
                <a16:creationId xmlns:a16="http://schemas.microsoft.com/office/drawing/2014/main" id="{3D298038-4E5E-966D-2491-2DCCA0ED4BC3}"/>
              </a:ext>
            </a:extLst>
          </p:cNvPr>
          <p:cNvSpPr txBox="1"/>
          <p:nvPr/>
        </p:nvSpPr>
        <p:spPr>
          <a:xfrm>
            <a:off x="8433916" y="4863402"/>
            <a:ext cx="3476729" cy="307777"/>
          </a:xfrm>
          <a:prstGeom prst="rect">
            <a:avLst/>
          </a:prstGeom>
          <a:noFill/>
        </p:spPr>
        <p:txBody>
          <a:bodyPr wrap="square" rtlCol="1">
            <a:spAutoFit/>
          </a:bodyPr>
          <a:lstStyle/>
          <a:p>
            <a:r>
              <a:rPr lang="ar-SA" sz="1400" dirty="0">
                <a:solidFill>
                  <a:srgbClr val="EDFBFC"/>
                </a:solidFill>
              </a:rPr>
              <a:t>*المثال </a:t>
            </a:r>
            <a:r>
              <a:rPr lang="ar-SA" sz="1400" dirty="0" smtClean="0">
                <a:solidFill>
                  <a:srgbClr val="EDFBFC"/>
                </a:solidFill>
              </a:rPr>
              <a:t>مما </a:t>
            </a:r>
            <a:r>
              <a:rPr lang="ar-SA" sz="1400" dirty="0">
                <a:solidFill>
                  <a:srgbClr val="EDFBFC"/>
                </a:solidFill>
              </a:rPr>
              <a:t>تم دراسته بمقرر أمن المعلومات</a:t>
            </a:r>
          </a:p>
        </p:txBody>
      </p:sp>
      <p:pic>
        <p:nvPicPr>
          <p:cNvPr id="4" name="صورة 3">
            <a:extLst>
              <a:ext uri="{FF2B5EF4-FFF2-40B4-BE49-F238E27FC236}">
                <a16:creationId xmlns:a16="http://schemas.microsoft.com/office/drawing/2014/main" id="{B3D1D7ED-C8AB-B432-B8CB-10C41A5EA39C}"/>
              </a:ext>
            </a:extLst>
          </p:cNvPr>
          <p:cNvPicPr>
            <a:picLocks noChangeAspect="1"/>
          </p:cNvPicPr>
          <p:nvPr/>
        </p:nvPicPr>
        <p:blipFill rotWithShape="1">
          <a:blip r:embed="rId4">
            <a:extLst>
              <a:ext uri="{28A0092B-C50C-407E-A947-70E740481C1C}">
                <a14:useLocalDpi xmlns:a14="http://schemas.microsoft.com/office/drawing/2010/main" val="0"/>
              </a:ext>
            </a:extLst>
          </a:blip>
          <a:srcRect l="1560" t="1563" r="1478" b="2865"/>
          <a:stretch/>
        </p:blipFill>
        <p:spPr>
          <a:xfrm>
            <a:off x="2230734" y="1838848"/>
            <a:ext cx="5918479" cy="3687745"/>
          </a:xfrm>
          <a:prstGeom prst="rect">
            <a:avLst/>
          </a:prstGeom>
        </p:spPr>
      </p:pic>
      <p:sp>
        <p:nvSpPr>
          <p:cNvPr id="9" name="مربع نص 8">
            <a:extLst>
              <a:ext uri="{FF2B5EF4-FFF2-40B4-BE49-F238E27FC236}">
                <a16:creationId xmlns:a16="http://schemas.microsoft.com/office/drawing/2014/main" id="{9BF0FB7E-AD33-84EC-411B-5B2D24E8FCA6}"/>
              </a:ext>
            </a:extLst>
          </p:cNvPr>
          <p:cNvSpPr txBox="1"/>
          <p:nvPr/>
        </p:nvSpPr>
        <p:spPr>
          <a:xfrm>
            <a:off x="-1250785" y="211079"/>
            <a:ext cx="4658613" cy="830997"/>
          </a:xfrm>
          <a:prstGeom prst="rect">
            <a:avLst/>
          </a:prstGeom>
          <a:noFill/>
        </p:spPr>
        <p:txBody>
          <a:bodyPr wrap="square" rtlCol="1">
            <a:spAutoFit/>
          </a:bodyPr>
          <a:lstStyle/>
          <a:p>
            <a:pPr algn="ctr"/>
            <a:r>
              <a:rPr lang="ar-SA" sz="4800" dirty="0">
                <a:solidFill>
                  <a:srgbClr val="EDFBFC"/>
                </a:solidFill>
                <a:latin typeface="Aldhabi" panose="01000000000000000000" pitchFamily="2" charset="-78"/>
                <a:cs typeface="Aldhabi" panose="01000000000000000000" pitchFamily="2" charset="-78"/>
              </a:rPr>
              <a:t>مثال تطبيقي</a:t>
            </a:r>
          </a:p>
        </p:txBody>
      </p:sp>
    </p:spTree>
    <p:extLst>
      <p:ext uri="{BB962C8B-B14F-4D97-AF65-F5344CB8AC3E}">
        <p14:creationId xmlns:p14="http://schemas.microsoft.com/office/powerpoint/2010/main" val="3902758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Blur radius="13"/>
                    </a14:imgEffect>
                  </a14:imgLayer>
                </a14:imgProps>
              </a:ext>
            </a:extLst>
          </a:blip>
          <a:srcRect/>
          <a:stretch>
            <a:fillRect l="-6000" r="-6000"/>
          </a:stretch>
        </a:blipFill>
        <a:effectLst/>
      </p:bgPr>
    </p:bg>
    <p:spTree>
      <p:nvGrpSpPr>
        <p:cNvPr id="1" name=""/>
        <p:cNvGrpSpPr/>
        <p:nvPr/>
      </p:nvGrpSpPr>
      <p:grpSpPr>
        <a:xfrm>
          <a:off x="0" y="0"/>
          <a:ext cx="0" cy="0"/>
          <a:chOff x="0" y="0"/>
          <a:chExt cx="0" cy="0"/>
        </a:xfrm>
      </p:grpSpPr>
      <p:sp>
        <p:nvSpPr>
          <p:cNvPr id="22" name="مربع نص 21">
            <a:extLst>
              <a:ext uri="{FF2B5EF4-FFF2-40B4-BE49-F238E27FC236}">
                <a16:creationId xmlns:a16="http://schemas.microsoft.com/office/drawing/2014/main" id="{9B0871CE-B434-CD26-8847-445890F07A95}"/>
              </a:ext>
            </a:extLst>
          </p:cNvPr>
          <p:cNvSpPr txBox="1"/>
          <p:nvPr/>
        </p:nvSpPr>
        <p:spPr>
          <a:xfrm>
            <a:off x="89417" y="6246811"/>
            <a:ext cx="804887" cy="400110"/>
          </a:xfrm>
          <a:prstGeom prst="rect">
            <a:avLst/>
          </a:prstGeom>
          <a:noFill/>
          <a:ln>
            <a:solidFill>
              <a:srgbClr val="8DF2FB"/>
            </a:solidFill>
          </a:ln>
        </p:spPr>
        <p:txBody>
          <a:bodyPr wrap="square" rtlCol="1">
            <a:spAutoFit/>
          </a:bodyPr>
          <a:lstStyle/>
          <a:p>
            <a:r>
              <a:rPr lang="en-US" sz="2000" dirty="0" smtClean="0">
                <a:solidFill>
                  <a:srgbClr val="EDFBFC"/>
                </a:solidFill>
              </a:rPr>
              <a:t>10/15</a:t>
            </a:r>
            <a:endParaRPr lang="ar-SA" sz="2000" dirty="0">
              <a:solidFill>
                <a:srgbClr val="EDFBFC"/>
              </a:solidFill>
            </a:endParaRPr>
          </a:p>
        </p:txBody>
      </p:sp>
      <p:sp>
        <p:nvSpPr>
          <p:cNvPr id="10" name="مربع نص 9">
            <a:extLst>
              <a:ext uri="{FF2B5EF4-FFF2-40B4-BE49-F238E27FC236}">
                <a16:creationId xmlns:a16="http://schemas.microsoft.com/office/drawing/2014/main" id="{703E0492-3F5E-FB14-0A4E-396FBC2E2E9F}"/>
              </a:ext>
            </a:extLst>
          </p:cNvPr>
          <p:cNvSpPr txBox="1"/>
          <p:nvPr/>
        </p:nvSpPr>
        <p:spPr>
          <a:xfrm>
            <a:off x="8433916" y="2800156"/>
            <a:ext cx="3476729" cy="1938992"/>
          </a:xfrm>
          <a:prstGeom prst="rect">
            <a:avLst/>
          </a:prstGeom>
          <a:noFill/>
          <a:ln>
            <a:solidFill>
              <a:srgbClr val="8DF2FB"/>
            </a:solidFill>
          </a:ln>
        </p:spPr>
        <p:txBody>
          <a:bodyPr wrap="square" rtlCol="1">
            <a:spAutoFit/>
          </a:bodyPr>
          <a:lstStyle/>
          <a:p>
            <a:r>
              <a:rPr lang="ar-SA" sz="2400" dirty="0">
                <a:solidFill>
                  <a:srgbClr val="EDFBFC"/>
                </a:solidFill>
              </a:rPr>
              <a:t>مثال تطبيقي حيث تم ادخال كلمة</a:t>
            </a:r>
          </a:p>
          <a:p>
            <a:r>
              <a:rPr lang="ar-SA" sz="2400" dirty="0">
                <a:solidFill>
                  <a:srgbClr val="EDFBFC"/>
                </a:solidFill>
              </a:rPr>
              <a:t>(</a:t>
            </a:r>
            <a:r>
              <a:rPr lang="en-US" sz="2400" dirty="0">
                <a:solidFill>
                  <a:srgbClr val="EDFBFC"/>
                </a:solidFill>
              </a:rPr>
              <a:t>KHOOR</a:t>
            </a:r>
            <a:r>
              <a:rPr lang="ar-SA" sz="2400" dirty="0">
                <a:solidFill>
                  <a:srgbClr val="EDFBFC"/>
                </a:solidFill>
              </a:rPr>
              <a:t>) </a:t>
            </a:r>
          </a:p>
          <a:p>
            <a:r>
              <a:rPr lang="ar-SA" sz="2400" dirty="0">
                <a:solidFill>
                  <a:srgbClr val="EDFBFC"/>
                </a:solidFill>
              </a:rPr>
              <a:t>مع مفتاح قيمته (</a:t>
            </a:r>
            <a:r>
              <a:rPr lang="en-US" sz="2400" dirty="0">
                <a:solidFill>
                  <a:srgbClr val="EDFBFC"/>
                </a:solidFill>
              </a:rPr>
              <a:t>3</a:t>
            </a:r>
            <a:r>
              <a:rPr lang="ar-SA" sz="2400" dirty="0">
                <a:solidFill>
                  <a:srgbClr val="EDFBFC"/>
                </a:solidFill>
              </a:rPr>
              <a:t>) </a:t>
            </a:r>
          </a:p>
          <a:p>
            <a:r>
              <a:rPr lang="ar-SA" sz="2400" dirty="0">
                <a:solidFill>
                  <a:srgbClr val="EDFBFC"/>
                </a:solidFill>
              </a:rPr>
              <a:t>لتظهر لنا نتيجة فك التشفير</a:t>
            </a:r>
          </a:p>
          <a:p>
            <a:r>
              <a:rPr lang="ar-SA" sz="2400" dirty="0">
                <a:solidFill>
                  <a:srgbClr val="EDFBFC"/>
                </a:solidFill>
              </a:rPr>
              <a:t> (</a:t>
            </a:r>
            <a:r>
              <a:rPr lang="en-US" sz="2400" dirty="0">
                <a:solidFill>
                  <a:srgbClr val="EDFBFC"/>
                </a:solidFill>
              </a:rPr>
              <a:t>HELLO</a:t>
            </a:r>
            <a:r>
              <a:rPr lang="ar-SA" sz="2400" dirty="0">
                <a:solidFill>
                  <a:srgbClr val="EDFBFC"/>
                </a:solidFill>
              </a:rPr>
              <a:t>)</a:t>
            </a:r>
          </a:p>
        </p:txBody>
      </p:sp>
      <p:sp>
        <p:nvSpPr>
          <p:cNvPr id="11" name="مربع نص 10">
            <a:extLst>
              <a:ext uri="{FF2B5EF4-FFF2-40B4-BE49-F238E27FC236}">
                <a16:creationId xmlns:a16="http://schemas.microsoft.com/office/drawing/2014/main" id="{AA1E9E58-CCAB-2CD0-C5FA-302498D337D6}"/>
              </a:ext>
            </a:extLst>
          </p:cNvPr>
          <p:cNvSpPr txBox="1"/>
          <p:nvPr/>
        </p:nvSpPr>
        <p:spPr>
          <a:xfrm>
            <a:off x="3952588" y="91050"/>
            <a:ext cx="4286824" cy="1569660"/>
          </a:xfrm>
          <a:prstGeom prst="rect">
            <a:avLst/>
          </a:prstGeom>
          <a:noFill/>
        </p:spPr>
        <p:txBody>
          <a:bodyPr wrap="square" rtlCol="1">
            <a:spAutoFit/>
          </a:bodyPr>
          <a:lstStyle/>
          <a:p>
            <a:pPr algn="ctr"/>
            <a:r>
              <a:rPr lang="ar-SA" sz="9600" dirty="0">
                <a:solidFill>
                  <a:srgbClr val="EDFBFC"/>
                </a:solidFill>
              </a:rPr>
              <a:t>قيصر</a:t>
            </a:r>
          </a:p>
        </p:txBody>
      </p:sp>
      <p:sp>
        <p:nvSpPr>
          <p:cNvPr id="5" name="مربع نص 4">
            <a:extLst>
              <a:ext uri="{FF2B5EF4-FFF2-40B4-BE49-F238E27FC236}">
                <a16:creationId xmlns:a16="http://schemas.microsoft.com/office/drawing/2014/main" id="{3D298038-4E5E-966D-2491-2DCCA0ED4BC3}"/>
              </a:ext>
            </a:extLst>
          </p:cNvPr>
          <p:cNvSpPr txBox="1"/>
          <p:nvPr/>
        </p:nvSpPr>
        <p:spPr>
          <a:xfrm>
            <a:off x="8433916" y="4863402"/>
            <a:ext cx="3476729" cy="307777"/>
          </a:xfrm>
          <a:prstGeom prst="rect">
            <a:avLst/>
          </a:prstGeom>
          <a:noFill/>
        </p:spPr>
        <p:txBody>
          <a:bodyPr wrap="square" rtlCol="1">
            <a:spAutoFit/>
          </a:bodyPr>
          <a:lstStyle/>
          <a:p>
            <a:r>
              <a:rPr lang="ar-SA" sz="1400" dirty="0">
                <a:solidFill>
                  <a:srgbClr val="EDFBFC"/>
                </a:solidFill>
              </a:rPr>
              <a:t>*المثال </a:t>
            </a:r>
            <a:r>
              <a:rPr lang="ar-SA" sz="1400" dirty="0" smtClean="0">
                <a:solidFill>
                  <a:srgbClr val="EDFBFC"/>
                </a:solidFill>
              </a:rPr>
              <a:t>مما </a:t>
            </a:r>
            <a:r>
              <a:rPr lang="ar-SA" sz="1400" dirty="0">
                <a:solidFill>
                  <a:srgbClr val="EDFBFC"/>
                </a:solidFill>
              </a:rPr>
              <a:t>تم دراسته بمقرر أمن المعلومات</a:t>
            </a:r>
          </a:p>
        </p:txBody>
      </p:sp>
      <p:pic>
        <p:nvPicPr>
          <p:cNvPr id="3" name="صورة 2">
            <a:extLst>
              <a:ext uri="{FF2B5EF4-FFF2-40B4-BE49-F238E27FC236}">
                <a16:creationId xmlns:a16="http://schemas.microsoft.com/office/drawing/2014/main" id="{4A5E7E23-0EF7-8126-C99A-F81550B38C24}"/>
              </a:ext>
            </a:extLst>
          </p:cNvPr>
          <p:cNvPicPr>
            <a:picLocks noChangeAspect="1"/>
          </p:cNvPicPr>
          <p:nvPr/>
        </p:nvPicPr>
        <p:blipFill rotWithShape="1">
          <a:blip r:embed="rId4">
            <a:extLst>
              <a:ext uri="{28A0092B-C50C-407E-A947-70E740481C1C}">
                <a14:useLocalDpi xmlns:a14="http://schemas.microsoft.com/office/drawing/2010/main" val="0"/>
              </a:ext>
            </a:extLst>
          </a:blip>
          <a:srcRect l="711" t="1946" r="1714" b="3539"/>
          <a:stretch/>
        </p:blipFill>
        <p:spPr>
          <a:xfrm>
            <a:off x="2723103" y="2009671"/>
            <a:ext cx="5516310" cy="3416440"/>
          </a:xfrm>
          <a:prstGeom prst="rect">
            <a:avLst/>
          </a:prstGeom>
        </p:spPr>
      </p:pic>
      <p:sp>
        <p:nvSpPr>
          <p:cNvPr id="9" name="مربع نص 8">
            <a:extLst>
              <a:ext uri="{FF2B5EF4-FFF2-40B4-BE49-F238E27FC236}">
                <a16:creationId xmlns:a16="http://schemas.microsoft.com/office/drawing/2014/main" id="{C3C928ED-2D0F-D23C-42C2-BBB4B3F8EE29}"/>
              </a:ext>
            </a:extLst>
          </p:cNvPr>
          <p:cNvSpPr txBox="1"/>
          <p:nvPr/>
        </p:nvSpPr>
        <p:spPr>
          <a:xfrm>
            <a:off x="-1250785" y="211079"/>
            <a:ext cx="4658613" cy="830997"/>
          </a:xfrm>
          <a:prstGeom prst="rect">
            <a:avLst/>
          </a:prstGeom>
          <a:noFill/>
        </p:spPr>
        <p:txBody>
          <a:bodyPr wrap="square" rtlCol="1">
            <a:spAutoFit/>
          </a:bodyPr>
          <a:lstStyle/>
          <a:p>
            <a:pPr algn="ctr"/>
            <a:r>
              <a:rPr lang="ar-SA" sz="4800" dirty="0">
                <a:solidFill>
                  <a:srgbClr val="EDFBFC"/>
                </a:solidFill>
                <a:latin typeface="Aldhabi" panose="01000000000000000000" pitchFamily="2" charset="-78"/>
                <a:cs typeface="Aldhabi" panose="01000000000000000000" pitchFamily="2" charset="-78"/>
              </a:rPr>
              <a:t>مثال تطبيقي</a:t>
            </a:r>
          </a:p>
        </p:txBody>
      </p:sp>
    </p:spTree>
    <p:extLst>
      <p:ext uri="{BB962C8B-B14F-4D97-AF65-F5344CB8AC3E}">
        <p14:creationId xmlns:p14="http://schemas.microsoft.com/office/powerpoint/2010/main" val="19648055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Blur radius="13"/>
                    </a14:imgEffect>
                  </a14:imgLayer>
                </a14:imgProps>
              </a:ext>
            </a:extLst>
          </a:blip>
          <a:srcRect/>
          <a:stretch>
            <a:fillRect l="-6000" r="-6000"/>
          </a:stretch>
        </a:blipFill>
        <a:effectLst/>
      </p:bgPr>
    </p:bg>
    <p:spTree>
      <p:nvGrpSpPr>
        <p:cNvPr id="1" name=""/>
        <p:cNvGrpSpPr/>
        <p:nvPr/>
      </p:nvGrpSpPr>
      <p:grpSpPr>
        <a:xfrm>
          <a:off x="0" y="0"/>
          <a:ext cx="0" cy="0"/>
          <a:chOff x="0" y="0"/>
          <a:chExt cx="0" cy="0"/>
        </a:xfrm>
      </p:grpSpPr>
      <p:sp>
        <p:nvSpPr>
          <p:cNvPr id="22" name="مربع نص 21">
            <a:extLst>
              <a:ext uri="{FF2B5EF4-FFF2-40B4-BE49-F238E27FC236}">
                <a16:creationId xmlns:a16="http://schemas.microsoft.com/office/drawing/2014/main" id="{9B0871CE-B434-CD26-8847-445890F07A95}"/>
              </a:ext>
            </a:extLst>
          </p:cNvPr>
          <p:cNvSpPr txBox="1"/>
          <p:nvPr/>
        </p:nvSpPr>
        <p:spPr>
          <a:xfrm>
            <a:off x="89417" y="6246811"/>
            <a:ext cx="804887" cy="400110"/>
          </a:xfrm>
          <a:prstGeom prst="rect">
            <a:avLst/>
          </a:prstGeom>
          <a:noFill/>
          <a:ln>
            <a:solidFill>
              <a:srgbClr val="8DF2FB"/>
            </a:solidFill>
          </a:ln>
        </p:spPr>
        <p:txBody>
          <a:bodyPr wrap="square" rtlCol="1">
            <a:spAutoFit/>
          </a:bodyPr>
          <a:lstStyle/>
          <a:p>
            <a:r>
              <a:rPr lang="en-US" sz="2000" dirty="0" smtClean="0">
                <a:solidFill>
                  <a:srgbClr val="EDFBFC"/>
                </a:solidFill>
              </a:rPr>
              <a:t>11/15</a:t>
            </a:r>
            <a:endParaRPr lang="ar-SA" sz="2000" dirty="0">
              <a:solidFill>
                <a:srgbClr val="EDFBFC"/>
              </a:solidFill>
            </a:endParaRPr>
          </a:p>
        </p:txBody>
      </p:sp>
      <p:sp>
        <p:nvSpPr>
          <p:cNvPr id="10" name="مربع نص 9">
            <a:extLst>
              <a:ext uri="{FF2B5EF4-FFF2-40B4-BE49-F238E27FC236}">
                <a16:creationId xmlns:a16="http://schemas.microsoft.com/office/drawing/2014/main" id="{703E0492-3F5E-FB14-0A4E-396FBC2E2E9F}"/>
              </a:ext>
            </a:extLst>
          </p:cNvPr>
          <p:cNvSpPr txBox="1"/>
          <p:nvPr/>
        </p:nvSpPr>
        <p:spPr>
          <a:xfrm>
            <a:off x="8303288" y="2478609"/>
            <a:ext cx="3476729" cy="2308324"/>
          </a:xfrm>
          <a:prstGeom prst="rect">
            <a:avLst/>
          </a:prstGeom>
          <a:noFill/>
          <a:ln>
            <a:solidFill>
              <a:srgbClr val="8DF2FB"/>
            </a:solidFill>
          </a:ln>
        </p:spPr>
        <p:txBody>
          <a:bodyPr wrap="square" rtlCol="1">
            <a:spAutoFit/>
          </a:bodyPr>
          <a:lstStyle/>
          <a:p>
            <a:r>
              <a:rPr lang="ar-SA" sz="2400" dirty="0">
                <a:solidFill>
                  <a:srgbClr val="EDFBFC"/>
                </a:solidFill>
              </a:rPr>
              <a:t>مثال تطبيقي حيث تم ادخال كلمة</a:t>
            </a:r>
          </a:p>
          <a:p>
            <a:r>
              <a:rPr lang="ar-SA" sz="2400" dirty="0">
                <a:solidFill>
                  <a:srgbClr val="EDFBFC"/>
                </a:solidFill>
              </a:rPr>
              <a:t>(</a:t>
            </a:r>
            <a:r>
              <a:rPr lang="en-US" sz="2400" dirty="0">
                <a:solidFill>
                  <a:srgbClr val="EDFBFC"/>
                </a:solidFill>
              </a:rPr>
              <a:t>ATTACKATDAWN</a:t>
            </a:r>
            <a:r>
              <a:rPr lang="ar-SA" sz="2400" dirty="0">
                <a:solidFill>
                  <a:srgbClr val="EDFBFC"/>
                </a:solidFill>
              </a:rPr>
              <a:t>) </a:t>
            </a:r>
          </a:p>
          <a:p>
            <a:r>
              <a:rPr lang="ar-SA" sz="2400" dirty="0">
                <a:solidFill>
                  <a:srgbClr val="EDFBFC"/>
                </a:solidFill>
              </a:rPr>
              <a:t>مع مفتاح قيمته </a:t>
            </a:r>
            <a:r>
              <a:rPr lang="ar-SA" sz="2400" dirty="0" smtClean="0">
                <a:solidFill>
                  <a:srgbClr val="EDFBFC"/>
                </a:solidFill>
              </a:rPr>
              <a:t>(</a:t>
            </a:r>
            <a:r>
              <a:rPr lang="en-US" sz="2400" dirty="0" smtClean="0">
                <a:solidFill>
                  <a:srgbClr val="EDFBFC"/>
                </a:solidFill>
              </a:rPr>
              <a:t>LEMONLEMONLE</a:t>
            </a:r>
            <a:r>
              <a:rPr lang="ar-SA" sz="2400" dirty="0" smtClean="0">
                <a:solidFill>
                  <a:srgbClr val="EDFBFC"/>
                </a:solidFill>
              </a:rPr>
              <a:t>) </a:t>
            </a:r>
            <a:endParaRPr lang="ar-SA" sz="2400" dirty="0">
              <a:solidFill>
                <a:srgbClr val="EDFBFC"/>
              </a:solidFill>
            </a:endParaRPr>
          </a:p>
          <a:p>
            <a:r>
              <a:rPr lang="ar-SA" sz="2400" dirty="0">
                <a:solidFill>
                  <a:srgbClr val="EDFBFC"/>
                </a:solidFill>
              </a:rPr>
              <a:t>لتظهر لنا نتيجة فك التشفير</a:t>
            </a:r>
          </a:p>
          <a:p>
            <a:r>
              <a:rPr lang="ar-SA" sz="2400" dirty="0">
                <a:solidFill>
                  <a:srgbClr val="EDFBFC"/>
                </a:solidFill>
              </a:rPr>
              <a:t> </a:t>
            </a:r>
            <a:r>
              <a:rPr lang="ar-SA" sz="2400" dirty="0" smtClean="0">
                <a:solidFill>
                  <a:srgbClr val="EDFBFC"/>
                </a:solidFill>
              </a:rPr>
              <a:t>(</a:t>
            </a:r>
            <a:r>
              <a:rPr lang="en-US" sz="2400" dirty="0" smtClean="0">
                <a:solidFill>
                  <a:srgbClr val="EDFBFC"/>
                </a:solidFill>
              </a:rPr>
              <a:t>LXFOPVEFRNHR</a:t>
            </a:r>
            <a:r>
              <a:rPr lang="ar-SA" sz="2400" dirty="0" smtClean="0">
                <a:solidFill>
                  <a:srgbClr val="EDFBFC"/>
                </a:solidFill>
              </a:rPr>
              <a:t>)</a:t>
            </a:r>
            <a:endParaRPr lang="ar-SA" sz="2400" dirty="0">
              <a:solidFill>
                <a:srgbClr val="EDFBFC"/>
              </a:solidFill>
            </a:endParaRPr>
          </a:p>
        </p:txBody>
      </p:sp>
      <p:sp>
        <p:nvSpPr>
          <p:cNvPr id="11" name="مربع نص 10">
            <a:extLst>
              <a:ext uri="{FF2B5EF4-FFF2-40B4-BE49-F238E27FC236}">
                <a16:creationId xmlns:a16="http://schemas.microsoft.com/office/drawing/2014/main" id="{AA1E9E58-CCAB-2CD0-C5FA-302498D337D6}"/>
              </a:ext>
            </a:extLst>
          </p:cNvPr>
          <p:cNvSpPr txBox="1"/>
          <p:nvPr/>
        </p:nvSpPr>
        <p:spPr>
          <a:xfrm>
            <a:off x="3952588" y="91050"/>
            <a:ext cx="4286824" cy="1569660"/>
          </a:xfrm>
          <a:prstGeom prst="rect">
            <a:avLst/>
          </a:prstGeom>
          <a:noFill/>
        </p:spPr>
        <p:txBody>
          <a:bodyPr wrap="square" rtlCol="1">
            <a:spAutoFit/>
          </a:bodyPr>
          <a:lstStyle/>
          <a:p>
            <a:pPr algn="ctr"/>
            <a:r>
              <a:rPr lang="ar-SA" sz="9600" dirty="0">
                <a:solidFill>
                  <a:srgbClr val="EDFBFC"/>
                </a:solidFill>
              </a:rPr>
              <a:t>فينجر</a:t>
            </a:r>
          </a:p>
        </p:txBody>
      </p:sp>
      <p:sp>
        <p:nvSpPr>
          <p:cNvPr id="5" name="مربع نص 4">
            <a:extLst>
              <a:ext uri="{FF2B5EF4-FFF2-40B4-BE49-F238E27FC236}">
                <a16:creationId xmlns:a16="http://schemas.microsoft.com/office/drawing/2014/main" id="{3D298038-4E5E-966D-2491-2DCCA0ED4BC3}"/>
              </a:ext>
            </a:extLst>
          </p:cNvPr>
          <p:cNvSpPr txBox="1"/>
          <p:nvPr/>
        </p:nvSpPr>
        <p:spPr>
          <a:xfrm>
            <a:off x="8433916" y="4863402"/>
            <a:ext cx="3476729" cy="307777"/>
          </a:xfrm>
          <a:prstGeom prst="rect">
            <a:avLst/>
          </a:prstGeom>
          <a:noFill/>
        </p:spPr>
        <p:txBody>
          <a:bodyPr wrap="square" rtlCol="1">
            <a:spAutoFit/>
          </a:bodyPr>
          <a:lstStyle/>
          <a:p>
            <a:r>
              <a:rPr lang="ar-SA" sz="1400" dirty="0">
                <a:solidFill>
                  <a:srgbClr val="EDFBFC"/>
                </a:solidFill>
              </a:rPr>
              <a:t>*المثال </a:t>
            </a:r>
            <a:r>
              <a:rPr lang="ar-SA" sz="1400" dirty="0" smtClean="0">
                <a:solidFill>
                  <a:srgbClr val="EDFBFC"/>
                </a:solidFill>
              </a:rPr>
              <a:t>مما </a:t>
            </a:r>
            <a:r>
              <a:rPr lang="ar-SA" sz="1400" dirty="0">
                <a:solidFill>
                  <a:srgbClr val="EDFBFC"/>
                </a:solidFill>
              </a:rPr>
              <a:t>تم دراسته بمقرر أمن المعلومات</a:t>
            </a:r>
          </a:p>
        </p:txBody>
      </p:sp>
      <p:sp>
        <p:nvSpPr>
          <p:cNvPr id="9" name="مربع نص 8">
            <a:extLst>
              <a:ext uri="{FF2B5EF4-FFF2-40B4-BE49-F238E27FC236}">
                <a16:creationId xmlns:a16="http://schemas.microsoft.com/office/drawing/2014/main" id="{818413A8-4002-04A9-F37F-69A6B7591B66}"/>
              </a:ext>
            </a:extLst>
          </p:cNvPr>
          <p:cNvSpPr txBox="1"/>
          <p:nvPr/>
        </p:nvSpPr>
        <p:spPr>
          <a:xfrm>
            <a:off x="-1250785" y="211079"/>
            <a:ext cx="4658613" cy="830997"/>
          </a:xfrm>
          <a:prstGeom prst="rect">
            <a:avLst/>
          </a:prstGeom>
          <a:noFill/>
        </p:spPr>
        <p:txBody>
          <a:bodyPr wrap="square" rtlCol="1">
            <a:spAutoFit/>
          </a:bodyPr>
          <a:lstStyle/>
          <a:p>
            <a:pPr algn="ctr"/>
            <a:r>
              <a:rPr lang="ar-SA" sz="4800" dirty="0">
                <a:solidFill>
                  <a:srgbClr val="EDFBFC"/>
                </a:solidFill>
                <a:latin typeface="Aldhabi" panose="01000000000000000000" pitchFamily="2" charset="-78"/>
                <a:cs typeface="Aldhabi" panose="01000000000000000000" pitchFamily="2" charset="-78"/>
              </a:rPr>
              <a:t>مثال تطبيقي</a:t>
            </a:r>
          </a:p>
        </p:txBody>
      </p:sp>
      <p:pic>
        <p:nvPicPr>
          <p:cNvPr id="1028" name="Picture 4" descr="https://cdn.discordapp.com/attachments/831511322935820288/975843200604467260/unknown.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4304" y="1551045"/>
            <a:ext cx="7658100" cy="5095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5773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مربع نص 21">
            <a:extLst>
              <a:ext uri="{FF2B5EF4-FFF2-40B4-BE49-F238E27FC236}">
                <a16:creationId xmlns:a16="http://schemas.microsoft.com/office/drawing/2014/main" id="{9B0871CE-B434-CD26-8847-445890F07A95}"/>
              </a:ext>
            </a:extLst>
          </p:cNvPr>
          <p:cNvSpPr txBox="1"/>
          <p:nvPr/>
        </p:nvSpPr>
        <p:spPr>
          <a:xfrm>
            <a:off x="89417" y="6246811"/>
            <a:ext cx="804887" cy="400110"/>
          </a:xfrm>
          <a:prstGeom prst="rect">
            <a:avLst/>
          </a:prstGeom>
          <a:noFill/>
          <a:ln>
            <a:solidFill>
              <a:srgbClr val="8DF2FB"/>
            </a:solidFill>
          </a:ln>
        </p:spPr>
        <p:txBody>
          <a:bodyPr wrap="square" rtlCol="1">
            <a:spAutoFit/>
          </a:bodyPr>
          <a:lstStyle/>
          <a:p>
            <a:r>
              <a:rPr lang="en-US" sz="2000" dirty="0" smtClean="0">
                <a:solidFill>
                  <a:srgbClr val="EDFBFC"/>
                </a:solidFill>
              </a:rPr>
              <a:t>12/15</a:t>
            </a:r>
            <a:endParaRPr lang="ar-SA" sz="2000" dirty="0">
              <a:solidFill>
                <a:srgbClr val="EDFBFC"/>
              </a:solidFill>
            </a:endParaRPr>
          </a:p>
        </p:txBody>
      </p:sp>
      <p:sp>
        <p:nvSpPr>
          <p:cNvPr id="10" name="مربع نص 9">
            <a:extLst>
              <a:ext uri="{FF2B5EF4-FFF2-40B4-BE49-F238E27FC236}">
                <a16:creationId xmlns:a16="http://schemas.microsoft.com/office/drawing/2014/main" id="{703E0492-3F5E-FB14-0A4E-396FBC2E2E9F}"/>
              </a:ext>
            </a:extLst>
          </p:cNvPr>
          <p:cNvSpPr txBox="1"/>
          <p:nvPr/>
        </p:nvSpPr>
        <p:spPr>
          <a:xfrm>
            <a:off x="8321964" y="2478608"/>
            <a:ext cx="3458053" cy="2677656"/>
          </a:xfrm>
          <a:prstGeom prst="rect">
            <a:avLst/>
          </a:prstGeom>
          <a:noFill/>
          <a:ln>
            <a:solidFill>
              <a:srgbClr val="8DF2FB"/>
            </a:solidFill>
          </a:ln>
        </p:spPr>
        <p:txBody>
          <a:bodyPr wrap="square" rtlCol="1">
            <a:spAutoFit/>
          </a:bodyPr>
          <a:lstStyle/>
          <a:p>
            <a:r>
              <a:rPr lang="ar-SA" sz="2400" dirty="0">
                <a:solidFill>
                  <a:srgbClr val="EDFBFC"/>
                </a:solidFill>
              </a:rPr>
              <a:t>مثال </a:t>
            </a:r>
            <a:r>
              <a:rPr lang="ar-SA" sz="2400" dirty="0" smtClean="0">
                <a:solidFill>
                  <a:srgbClr val="EDFBFC"/>
                </a:solidFill>
              </a:rPr>
              <a:t>تطبيقي فك التشفير</a:t>
            </a:r>
            <a:r>
              <a:rPr lang="en-US" sz="2400" dirty="0" smtClean="0">
                <a:solidFill>
                  <a:srgbClr val="EDFBFC"/>
                </a:solidFill>
              </a:rPr>
              <a:t> </a:t>
            </a:r>
            <a:r>
              <a:rPr lang="ar-SA" sz="2400" dirty="0" smtClean="0">
                <a:solidFill>
                  <a:srgbClr val="EDFBFC"/>
                </a:solidFill>
              </a:rPr>
              <a:t>حيث </a:t>
            </a:r>
            <a:r>
              <a:rPr lang="ar-SA" sz="2400" dirty="0">
                <a:solidFill>
                  <a:srgbClr val="EDFBFC"/>
                </a:solidFill>
              </a:rPr>
              <a:t>تم ادخال </a:t>
            </a:r>
            <a:r>
              <a:rPr lang="ar-SA" sz="2400" dirty="0" smtClean="0">
                <a:solidFill>
                  <a:srgbClr val="EDFBFC"/>
                </a:solidFill>
              </a:rPr>
              <a:t>النص المشفر</a:t>
            </a:r>
            <a:endParaRPr lang="ar-SA" sz="2400" dirty="0">
              <a:solidFill>
                <a:srgbClr val="EDFBFC"/>
              </a:solidFill>
            </a:endParaRPr>
          </a:p>
          <a:p>
            <a:r>
              <a:rPr lang="ar-SA" sz="2400" dirty="0" smtClean="0">
                <a:solidFill>
                  <a:srgbClr val="EDFBFC"/>
                </a:solidFill>
              </a:rPr>
              <a:t>(</a:t>
            </a:r>
            <a:r>
              <a:rPr lang="en-US" sz="2400" dirty="0" smtClean="0">
                <a:solidFill>
                  <a:srgbClr val="EDFBFC"/>
                </a:solidFill>
              </a:rPr>
              <a:t>LXFOPVEFRNHR</a:t>
            </a:r>
            <a:r>
              <a:rPr lang="ar-SA" sz="2400" dirty="0" smtClean="0">
                <a:solidFill>
                  <a:srgbClr val="EDFBFC"/>
                </a:solidFill>
              </a:rPr>
              <a:t>) </a:t>
            </a:r>
            <a:endParaRPr lang="ar-SA" sz="2400" dirty="0">
              <a:solidFill>
                <a:srgbClr val="EDFBFC"/>
              </a:solidFill>
            </a:endParaRPr>
          </a:p>
          <a:p>
            <a:r>
              <a:rPr lang="ar-SA" sz="2400" dirty="0">
                <a:solidFill>
                  <a:srgbClr val="EDFBFC"/>
                </a:solidFill>
              </a:rPr>
              <a:t>مع مفتاح قيمته </a:t>
            </a:r>
            <a:r>
              <a:rPr lang="ar-SA" sz="2400" dirty="0" smtClean="0">
                <a:solidFill>
                  <a:srgbClr val="EDFBFC"/>
                </a:solidFill>
              </a:rPr>
              <a:t>(</a:t>
            </a:r>
            <a:r>
              <a:rPr lang="en-US" sz="2400" dirty="0" smtClean="0">
                <a:solidFill>
                  <a:srgbClr val="EDFBFC"/>
                </a:solidFill>
              </a:rPr>
              <a:t>LEMONLEMONLE</a:t>
            </a:r>
            <a:r>
              <a:rPr lang="ar-SA" sz="2400" dirty="0" smtClean="0">
                <a:solidFill>
                  <a:srgbClr val="EDFBFC"/>
                </a:solidFill>
              </a:rPr>
              <a:t>) </a:t>
            </a:r>
            <a:endParaRPr lang="ar-SA" sz="2400" dirty="0">
              <a:solidFill>
                <a:srgbClr val="EDFBFC"/>
              </a:solidFill>
            </a:endParaRPr>
          </a:p>
          <a:p>
            <a:r>
              <a:rPr lang="ar-SA" sz="2400" dirty="0">
                <a:solidFill>
                  <a:srgbClr val="EDFBFC"/>
                </a:solidFill>
              </a:rPr>
              <a:t>لتظهر لنا نتيجة فك التشفير</a:t>
            </a:r>
          </a:p>
          <a:p>
            <a:r>
              <a:rPr lang="ar-SA" sz="2400" dirty="0">
                <a:solidFill>
                  <a:srgbClr val="EDFBFC"/>
                </a:solidFill>
              </a:rPr>
              <a:t> </a:t>
            </a:r>
            <a:r>
              <a:rPr lang="ar-SA" sz="2400" dirty="0" smtClean="0">
                <a:solidFill>
                  <a:srgbClr val="EDFBFC"/>
                </a:solidFill>
              </a:rPr>
              <a:t>(</a:t>
            </a:r>
            <a:r>
              <a:rPr lang="en-US" sz="2400" dirty="0" smtClean="0">
                <a:solidFill>
                  <a:srgbClr val="EDFBFC"/>
                </a:solidFill>
              </a:rPr>
              <a:t>ATTACKATDAWN</a:t>
            </a:r>
            <a:r>
              <a:rPr lang="ar-SA" sz="2400" dirty="0" smtClean="0">
                <a:solidFill>
                  <a:srgbClr val="EDFBFC"/>
                </a:solidFill>
              </a:rPr>
              <a:t>)</a:t>
            </a:r>
            <a:endParaRPr lang="ar-SA" sz="2400" dirty="0">
              <a:solidFill>
                <a:srgbClr val="EDFBFC"/>
              </a:solidFill>
            </a:endParaRPr>
          </a:p>
        </p:txBody>
      </p:sp>
      <p:sp>
        <p:nvSpPr>
          <p:cNvPr id="11" name="مربع نص 10">
            <a:extLst>
              <a:ext uri="{FF2B5EF4-FFF2-40B4-BE49-F238E27FC236}">
                <a16:creationId xmlns:a16="http://schemas.microsoft.com/office/drawing/2014/main" id="{AA1E9E58-CCAB-2CD0-C5FA-302498D337D6}"/>
              </a:ext>
            </a:extLst>
          </p:cNvPr>
          <p:cNvSpPr txBox="1"/>
          <p:nvPr/>
        </p:nvSpPr>
        <p:spPr>
          <a:xfrm>
            <a:off x="3952588" y="91050"/>
            <a:ext cx="4286824" cy="1569660"/>
          </a:xfrm>
          <a:prstGeom prst="rect">
            <a:avLst/>
          </a:prstGeom>
          <a:noFill/>
        </p:spPr>
        <p:txBody>
          <a:bodyPr wrap="square" rtlCol="1">
            <a:spAutoFit/>
          </a:bodyPr>
          <a:lstStyle/>
          <a:p>
            <a:pPr algn="ctr"/>
            <a:r>
              <a:rPr lang="ar-SA" sz="9600" dirty="0">
                <a:solidFill>
                  <a:srgbClr val="EDFBFC"/>
                </a:solidFill>
              </a:rPr>
              <a:t>فينجر</a:t>
            </a:r>
          </a:p>
        </p:txBody>
      </p:sp>
      <p:sp>
        <p:nvSpPr>
          <p:cNvPr id="5" name="مربع نص 4">
            <a:extLst>
              <a:ext uri="{FF2B5EF4-FFF2-40B4-BE49-F238E27FC236}">
                <a16:creationId xmlns:a16="http://schemas.microsoft.com/office/drawing/2014/main" id="{3D298038-4E5E-966D-2491-2DCCA0ED4BC3}"/>
              </a:ext>
            </a:extLst>
          </p:cNvPr>
          <p:cNvSpPr txBox="1"/>
          <p:nvPr/>
        </p:nvSpPr>
        <p:spPr>
          <a:xfrm>
            <a:off x="8396970" y="5232856"/>
            <a:ext cx="3476729" cy="307777"/>
          </a:xfrm>
          <a:prstGeom prst="rect">
            <a:avLst/>
          </a:prstGeom>
          <a:noFill/>
        </p:spPr>
        <p:txBody>
          <a:bodyPr wrap="square" rtlCol="1">
            <a:spAutoFit/>
          </a:bodyPr>
          <a:lstStyle/>
          <a:p>
            <a:r>
              <a:rPr lang="ar-SA" sz="1400" dirty="0">
                <a:solidFill>
                  <a:srgbClr val="EDFBFC"/>
                </a:solidFill>
              </a:rPr>
              <a:t>*المثال </a:t>
            </a:r>
            <a:r>
              <a:rPr lang="ar-SA" sz="1400" dirty="0" smtClean="0">
                <a:solidFill>
                  <a:srgbClr val="EDFBFC"/>
                </a:solidFill>
              </a:rPr>
              <a:t>مما </a:t>
            </a:r>
            <a:r>
              <a:rPr lang="ar-SA" sz="1400" dirty="0">
                <a:solidFill>
                  <a:srgbClr val="EDFBFC"/>
                </a:solidFill>
              </a:rPr>
              <a:t>تم دراسته بمقرر أمن المعلومات</a:t>
            </a:r>
          </a:p>
        </p:txBody>
      </p:sp>
      <p:sp>
        <p:nvSpPr>
          <p:cNvPr id="9" name="مربع نص 8">
            <a:extLst>
              <a:ext uri="{FF2B5EF4-FFF2-40B4-BE49-F238E27FC236}">
                <a16:creationId xmlns:a16="http://schemas.microsoft.com/office/drawing/2014/main" id="{818413A8-4002-04A9-F37F-69A6B7591B66}"/>
              </a:ext>
            </a:extLst>
          </p:cNvPr>
          <p:cNvSpPr txBox="1"/>
          <p:nvPr/>
        </p:nvSpPr>
        <p:spPr>
          <a:xfrm>
            <a:off x="-1250785" y="211079"/>
            <a:ext cx="4658613" cy="830997"/>
          </a:xfrm>
          <a:prstGeom prst="rect">
            <a:avLst/>
          </a:prstGeom>
          <a:noFill/>
        </p:spPr>
        <p:txBody>
          <a:bodyPr wrap="square" rtlCol="1">
            <a:spAutoFit/>
          </a:bodyPr>
          <a:lstStyle/>
          <a:p>
            <a:pPr algn="ctr"/>
            <a:r>
              <a:rPr lang="ar-SA" sz="4800" dirty="0">
                <a:solidFill>
                  <a:srgbClr val="EDFBFC"/>
                </a:solidFill>
                <a:latin typeface="Aldhabi" panose="01000000000000000000" pitchFamily="2" charset="-78"/>
                <a:cs typeface="Aldhabi" panose="01000000000000000000" pitchFamily="2" charset="-78"/>
              </a:rPr>
              <a:t>مثال تطبيقي</a:t>
            </a:r>
          </a:p>
        </p:txBody>
      </p:sp>
      <p:pic>
        <p:nvPicPr>
          <p:cNvPr id="2" name="Picture 1"/>
          <p:cNvPicPr>
            <a:picLocks noChangeAspect="1"/>
          </p:cNvPicPr>
          <p:nvPr/>
        </p:nvPicPr>
        <p:blipFill>
          <a:blip r:embed="rId2"/>
          <a:stretch>
            <a:fillRect/>
          </a:stretch>
        </p:blipFill>
        <p:spPr>
          <a:xfrm>
            <a:off x="806531" y="1605917"/>
            <a:ext cx="6859651" cy="4564568"/>
          </a:xfrm>
          <a:prstGeom prst="rect">
            <a:avLst/>
          </a:prstGeom>
        </p:spPr>
      </p:pic>
    </p:spTree>
    <p:extLst>
      <p:ext uri="{BB962C8B-B14F-4D97-AF65-F5344CB8AC3E}">
        <p14:creationId xmlns:p14="http://schemas.microsoft.com/office/powerpoint/2010/main" val="1794014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Blur radius="13"/>
                    </a14:imgEffect>
                  </a14:imgLayer>
                </a14:imgProps>
              </a:ext>
            </a:extLst>
          </a:blip>
          <a:srcRect/>
          <a:stretch>
            <a:fillRect l="-6000" r="-6000"/>
          </a:stretch>
        </a:blipFill>
        <a:effectLst/>
      </p:bgPr>
    </p:bg>
    <p:spTree>
      <p:nvGrpSpPr>
        <p:cNvPr id="1" name=""/>
        <p:cNvGrpSpPr/>
        <p:nvPr/>
      </p:nvGrpSpPr>
      <p:grpSpPr>
        <a:xfrm>
          <a:off x="0" y="0"/>
          <a:ext cx="0" cy="0"/>
          <a:chOff x="0" y="0"/>
          <a:chExt cx="0" cy="0"/>
        </a:xfrm>
      </p:grpSpPr>
      <p:sp>
        <p:nvSpPr>
          <p:cNvPr id="22" name="مربع نص 21">
            <a:extLst>
              <a:ext uri="{FF2B5EF4-FFF2-40B4-BE49-F238E27FC236}">
                <a16:creationId xmlns:a16="http://schemas.microsoft.com/office/drawing/2014/main" id="{9B0871CE-B434-CD26-8847-445890F07A95}"/>
              </a:ext>
            </a:extLst>
          </p:cNvPr>
          <p:cNvSpPr txBox="1"/>
          <p:nvPr/>
        </p:nvSpPr>
        <p:spPr>
          <a:xfrm>
            <a:off x="89417" y="6246811"/>
            <a:ext cx="804887" cy="400110"/>
          </a:xfrm>
          <a:prstGeom prst="rect">
            <a:avLst/>
          </a:prstGeom>
          <a:noFill/>
          <a:ln>
            <a:solidFill>
              <a:srgbClr val="8DF2FB"/>
            </a:solidFill>
          </a:ln>
        </p:spPr>
        <p:txBody>
          <a:bodyPr wrap="square" rtlCol="1">
            <a:spAutoFit/>
          </a:bodyPr>
          <a:lstStyle/>
          <a:p>
            <a:r>
              <a:rPr lang="en-US" sz="2000" dirty="0" smtClean="0">
                <a:solidFill>
                  <a:srgbClr val="EDFBFC"/>
                </a:solidFill>
              </a:rPr>
              <a:t>13/15</a:t>
            </a:r>
            <a:endParaRPr lang="ar-SA" sz="2000" dirty="0">
              <a:solidFill>
                <a:srgbClr val="EDFBFC"/>
              </a:solidFill>
            </a:endParaRPr>
          </a:p>
        </p:txBody>
      </p:sp>
      <p:sp>
        <p:nvSpPr>
          <p:cNvPr id="10" name="مربع نص 9">
            <a:extLst>
              <a:ext uri="{FF2B5EF4-FFF2-40B4-BE49-F238E27FC236}">
                <a16:creationId xmlns:a16="http://schemas.microsoft.com/office/drawing/2014/main" id="{703E0492-3F5E-FB14-0A4E-396FBC2E2E9F}"/>
              </a:ext>
            </a:extLst>
          </p:cNvPr>
          <p:cNvSpPr txBox="1"/>
          <p:nvPr/>
        </p:nvSpPr>
        <p:spPr>
          <a:xfrm>
            <a:off x="8239412" y="1373292"/>
            <a:ext cx="3476729" cy="3785652"/>
          </a:xfrm>
          <a:prstGeom prst="rect">
            <a:avLst/>
          </a:prstGeom>
          <a:noFill/>
          <a:ln>
            <a:solidFill>
              <a:srgbClr val="8DF2FB"/>
            </a:solidFill>
          </a:ln>
        </p:spPr>
        <p:txBody>
          <a:bodyPr wrap="square" rtlCol="1">
            <a:spAutoFit/>
          </a:bodyPr>
          <a:lstStyle/>
          <a:p>
            <a:r>
              <a:rPr lang="ar-SA" sz="2400" dirty="0">
                <a:solidFill>
                  <a:srgbClr val="EDFBFC"/>
                </a:solidFill>
              </a:rPr>
              <a:t>كما رأينا توجد العديد من الطرق في التشفير، ربما تتشابه بعضها في النتيجة والمفهوم، وقد تختلف بعضها في التطبيق إلا أن الهدف بلا شك هو ذاته الا وهو الحماية. في هذا العرض قمنا </a:t>
            </a:r>
            <a:r>
              <a:rPr lang="ar-SA" sz="2400" dirty="0" smtClean="0">
                <a:solidFill>
                  <a:srgbClr val="EDFBFC"/>
                </a:solidFill>
              </a:rPr>
              <a:t>بالاطلاع </a:t>
            </a:r>
            <a:r>
              <a:rPr lang="ar-SA" sz="2400" dirty="0">
                <a:solidFill>
                  <a:srgbClr val="EDFBFC"/>
                </a:solidFill>
              </a:rPr>
              <a:t>على برنامج التشفير، وعرض بعض الأمثلة مما تم دراسته، وقمنا </a:t>
            </a:r>
            <a:r>
              <a:rPr lang="ar-SA" sz="2400" dirty="0" smtClean="0">
                <a:solidFill>
                  <a:srgbClr val="EDFBFC"/>
                </a:solidFill>
              </a:rPr>
              <a:t>باستعراض </a:t>
            </a:r>
            <a:r>
              <a:rPr lang="ar-SA" sz="2400" dirty="0">
                <a:solidFill>
                  <a:srgbClr val="EDFBFC"/>
                </a:solidFill>
              </a:rPr>
              <a:t>البرنامج بشكل مباشر لنرى طريقة عمله بصورة حية، </a:t>
            </a:r>
          </a:p>
        </p:txBody>
      </p:sp>
      <p:sp>
        <p:nvSpPr>
          <p:cNvPr id="11" name="مربع نص 10">
            <a:extLst>
              <a:ext uri="{FF2B5EF4-FFF2-40B4-BE49-F238E27FC236}">
                <a16:creationId xmlns:a16="http://schemas.microsoft.com/office/drawing/2014/main" id="{AA1E9E58-CCAB-2CD0-C5FA-302498D337D6}"/>
              </a:ext>
            </a:extLst>
          </p:cNvPr>
          <p:cNvSpPr txBox="1"/>
          <p:nvPr/>
        </p:nvSpPr>
        <p:spPr>
          <a:xfrm>
            <a:off x="3952588" y="91050"/>
            <a:ext cx="4286824" cy="1569660"/>
          </a:xfrm>
          <a:prstGeom prst="rect">
            <a:avLst/>
          </a:prstGeom>
          <a:noFill/>
        </p:spPr>
        <p:txBody>
          <a:bodyPr wrap="square" rtlCol="1">
            <a:spAutoFit/>
          </a:bodyPr>
          <a:lstStyle/>
          <a:p>
            <a:pPr algn="ctr"/>
            <a:r>
              <a:rPr lang="ar-SA" sz="9600" dirty="0">
                <a:solidFill>
                  <a:srgbClr val="EDFBFC"/>
                </a:solidFill>
              </a:rPr>
              <a:t>ملخص</a:t>
            </a:r>
          </a:p>
        </p:txBody>
      </p:sp>
      <p:sp>
        <p:nvSpPr>
          <p:cNvPr id="8" name="مربع نص 7">
            <a:extLst>
              <a:ext uri="{FF2B5EF4-FFF2-40B4-BE49-F238E27FC236}">
                <a16:creationId xmlns:a16="http://schemas.microsoft.com/office/drawing/2014/main" id="{B17D84CA-8075-486C-ACA6-454F61434994}"/>
              </a:ext>
            </a:extLst>
          </p:cNvPr>
          <p:cNvSpPr txBox="1"/>
          <p:nvPr/>
        </p:nvSpPr>
        <p:spPr>
          <a:xfrm>
            <a:off x="4625709" y="4002308"/>
            <a:ext cx="3476729" cy="2677656"/>
          </a:xfrm>
          <a:prstGeom prst="rect">
            <a:avLst/>
          </a:prstGeom>
          <a:noFill/>
          <a:ln>
            <a:solidFill>
              <a:srgbClr val="8DF2FB"/>
            </a:solidFill>
          </a:ln>
        </p:spPr>
        <p:txBody>
          <a:bodyPr wrap="square" rtlCol="1">
            <a:spAutoFit/>
          </a:bodyPr>
          <a:lstStyle/>
          <a:p>
            <a:r>
              <a:rPr lang="ar-SA" sz="2400" dirty="0">
                <a:solidFill>
                  <a:srgbClr val="EDFBFC"/>
                </a:solidFill>
              </a:rPr>
              <a:t>وكانت هذه بعض الطرق البدائية الشهيرة في التشفير، أما علم التشفير فيحتوي على العديد من الطرق والأساليب. وبالتأكيد طرق التشفير الحديثة أصبحت أكثر تطوراً وتعقيداً. كما أن هذا العلم لا يزال يتطور حتى يومنا هذا</a:t>
            </a:r>
          </a:p>
        </p:txBody>
      </p:sp>
    </p:spTree>
    <p:extLst>
      <p:ext uri="{BB962C8B-B14F-4D97-AF65-F5344CB8AC3E}">
        <p14:creationId xmlns:p14="http://schemas.microsoft.com/office/powerpoint/2010/main" val="3490263836"/>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Blur radius="13"/>
                    </a14:imgEffect>
                  </a14:imgLayer>
                </a14:imgProps>
              </a:ext>
            </a:extLst>
          </a:blip>
          <a:srcRect/>
          <a:stretch>
            <a:fillRect l="-6000" r="-6000"/>
          </a:stretch>
        </a:blipFill>
        <a:effectLst/>
      </p:bgPr>
    </p:bg>
    <p:spTree>
      <p:nvGrpSpPr>
        <p:cNvPr id="1" name=""/>
        <p:cNvGrpSpPr/>
        <p:nvPr/>
      </p:nvGrpSpPr>
      <p:grpSpPr>
        <a:xfrm>
          <a:off x="0" y="0"/>
          <a:ext cx="0" cy="0"/>
          <a:chOff x="0" y="0"/>
          <a:chExt cx="0" cy="0"/>
        </a:xfrm>
      </p:grpSpPr>
      <p:sp>
        <p:nvSpPr>
          <p:cNvPr id="22" name="مربع نص 21">
            <a:extLst>
              <a:ext uri="{FF2B5EF4-FFF2-40B4-BE49-F238E27FC236}">
                <a16:creationId xmlns:a16="http://schemas.microsoft.com/office/drawing/2014/main" id="{9B0871CE-B434-CD26-8847-445890F07A95}"/>
              </a:ext>
            </a:extLst>
          </p:cNvPr>
          <p:cNvSpPr txBox="1"/>
          <p:nvPr/>
        </p:nvSpPr>
        <p:spPr>
          <a:xfrm>
            <a:off x="89417" y="6246811"/>
            <a:ext cx="804887" cy="400110"/>
          </a:xfrm>
          <a:prstGeom prst="rect">
            <a:avLst/>
          </a:prstGeom>
          <a:noFill/>
          <a:ln>
            <a:solidFill>
              <a:srgbClr val="8DF2FB"/>
            </a:solidFill>
          </a:ln>
        </p:spPr>
        <p:txBody>
          <a:bodyPr wrap="square" rtlCol="1">
            <a:spAutoFit/>
          </a:bodyPr>
          <a:lstStyle/>
          <a:p>
            <a:r>
              <a:rPr lang="en-US" sz="2000" dirty="0" smtClean="0">
                <a:solidFill>
                  <a:srgbClr val="EDFBFC"/>
                </a:solidFill>
              </a:rPr>
              <a:t>14/15</a:t>
            </a:r>
            <a:endParaRPr lang="ar-SA" sz="2000" dirty="0">
              <a:solidFill>
                <a:srgbClr val="EDFBFC"/>
              </a:solidFill>
            </a:endParaRPr>
          </a:p>
        </p:txBody>
      </p:sp>
      <p:sp>
        <p:nvSpPr>
          <p:cNvPr id="11" name="مربع نص 10">
            <a:extLst>
              <a:ext uri="{FF2B5EF4-FFF2-40B4-BE49-F238E27FC236}">
                <a16:creationId xmlns:a16="http://schemas.microsoft.com/office/drawing/2014/main" id="{AA1E9E58-CCAB-2CD0-C5FA-302498D337D6}"/>
              </a:ext>
            </a:extLst>
          </p:cNvPr>
          <p:cNvSpPr txBox="1"/>
          <p:nvPr/>
        </p:nvSpPr>
        <p:spPr>
          <a:xfrm>
            <a:off x="3580798" y="312114"/>
            <a:ext cx="6196247" cy="1569660"/>
          </a:xfrm>
          <a:prstGeom prst="rect">
            <a:avLst/>
          </a:prstGeom>
          <a:noFill/>
        </p:spPr>
        <p:txBody>
          <a:bodyPr wrap="square" rtlCol="1">
            <a:spAutoFit/>
          </a:bodyPr>
          <a:lstStyle/>
          <a:p>
            <a:pPr algn="ctr"/>
            <a:r>
              <a:rPr lang="ar-SA" sz="9600" dirty="0" smtClean="0">
                <a:solidFill>
                  <a:srgbClr val="EDFBFC"/>
                </a:solidFill>
              </a:rPr>
              <a:t>مصادر الدراسة</a:t>
            </a:r>
            <a:endParaRPr lang="ar-SA" sz="9600" dirty="0">
              <a:solidFill>
                <a:srgbClr val="EDFBFC"/>
              </a:solidFill>
            </a:endParaRPr>
          </a:p>
        </p:txBody>
      </p:sp>
      <p:sp>
        <p:nvSpPr>
          <p:cNvPr id="6" name="مربع نص 5">
            <a:extLst>
              <a:ext uri="{FF2B5EF4-FFF2-40B4-BE49-F238E27FC236}">
                <a16:creationId xmlns:a16="http://schemas.microsoft.com/office/drawing/2014/main" id="{4E8A0F78-6692-634F-5C2A-C8C6DAEAF5B4}"/>
              </a:ext>
            </a:extLst>
          </p:cNvPr>
          <p:cNvSpPr txBox="1"/>
          <p:nvPr/>
        </p:nvSpPr>
        <p:spPr>
          <a:xfrm>
            <a:off x="7857575" y="2800159"/>
            <a:ext cx="3476729" cy="1569660"/>
          </a:xfrm>
          <a:prstGeom prst="rect">
            <a:avLst/>
          </a:prstGeom>
          <a:noFill/>
          <a:ln>
            <a:solidFill>
              <a:srgbClr val="8DF2FB"/>
            </a:solidFill>
          </a:ln>
        </p:spPr>
        <p:txBody>
          <a:bodyPr wrap="square" rtlCol="1">
            <a:spAutoFit/>
          </a:bodyPr>
          <a:lstStyle/>
          <a:p>
            <a:r>
              <a:rPr lang="ar-SA" sz="2400" dirty="0">
                <a:solidFill>
                  <a:srgbClr val="EDFBFC"/>
                </a:solidFill>
              </a:rPr>
              <a:t>تم الاعتماد بشكل كامل على ما تم دراسته في المقرر بالإضافة إلى المهارات البرمجية المكتسبة من مقررات البرمجة السابقة.</a:t>
            </a:r>
          </a:p>
        </p:txBody>
      </p:sp>
    </p:spTree>
    <p:extLst>
      <p:ext uri="{BB962C8B-B14F-4D97-AF65-F5344CB8AC3E}">
        <p14:creationId xmlns:p14="http://schemas.microsoft.com/office/powerpoint/2010/main" val="661033107"/>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BEBA8EAE-BF5A-486C-A8C5-ECC9F3942E4B}">
                <a14:imgProps xmlns:a14="http://schemas.microsoft.com/office/drawing/2010/main">
                  <a14:imgLayer r:embed="rId3">
                    <a14:imgEffect>
                      <a14:artisticBlur radius="13"/>
                    </a14:imgEffect>
                  </a14:imgLayer>
                </a14:imgProps>
              </a:ext>
            </a:extLst>
          </a:blip>
          <a:srcRect/>
          <a:stretch>
            <a:fillRect l="-6000" r="-6000"/>
          </a:stretch>
        </a:blipFill>
        <a:effectLst/>
      </p:bgPr>
    </p:bg>
    <p:spTree>
      <p:nvGrpSpPr>
        <p:cNvPr id="1" name=""/>
        <p:cNvGrpSpPr/>
        <p:nvPr/>
      </p:nvGrpSpPr>
      <p:grpSpPr>
        <a:xfrm>
          <a:off x="0" y="0"/>
          <a:ext cx="0" cy="0"/>
          <a:chOff x="0" y="0"/>
          <a:chExt cx="0" cy="0"/>
        </a:xfrm>
      </p:grpSpPr>
      <p:sp>
        <p:nvSpPr>
          <p:cNvPr id="22" name="مربع نص 21">
            <a:extLst>
              <a:ext uri="{FF2B5EF4-FFF2-40B4-BE49-F238E27FC236}">
                <a16:creationId xmlns:a16="http://schemas.microsoft.com/office/drawing/2014/main" id="{9B0871CE-B434-CD26-8847-445890F07A95}"/>
              </a:ext>
            </a:extLst>
          </p:cNvPr>
          <p:cNvSpPr txBox="1"/>
          <p:nvPr/>
        </p:nvSpPr>
        <p:spPr>
          <a:xfrm>
            <a:off x="89417" y="6246811"/>
            <a:ext cx="804887" cy="400110"/>
          </a:xfrm>
          <a:prstGeom prst="rect">
            <a:avLst/>
          </a:prstGeom>
          <a:noFill/>
          <a:ln>
            <a:solidFill>
              <a:srgbClr val="8DF2FB"/>
            </a:solidFill>
          </a:ln>
        </p:spPr>
        <p:txBody>
          <a:bodyPr wrap="square" rtlCol="1">
            <a:spAutoFit/>
          </a:bodyPr>
          <a:lstStyle/>
          <a:p>
            <a:r>
              <a:rPr lang="en-US" sz="2000" dirty="0" smtClean="0">
                <a:solidFill>
                  <a:srgbClr val="EDFBFC"/>
                </a:solidFill>
              </a:rPr>
              <a:t>15/15</a:t>
            </a:r>
            <a:endParaRPr lang="ar-SA" sz="2000" dirty="0">
              <a:solidFill>
                <a:srgbClr val="EDFBFC"/>
              </a:solidFill>
            </a:endParaRPr>
          </a:p>
        </p:txBody>
      </p:sp>
      <p:sp>
        <p:nvSpPr>
          <p:cNvPr id="11" name="مربع نص 10">
            <a:extLst>
              <a:ext uri="{FF2B5EF4-FFF2-40B4-BE49-F238E27FC236}">
                <a16:creationId xmlns:a16="http://schemas.microsoft.com/office/drawing/2014/main" id="{AA1E9E58-CCAB-2CD0-C5FA-302498D337D6}"/>
              </a:ext>
            </a:extLst>
          </p:cNvPr>
          <p:cNvSpPr txBox="1"/>
          <p:nvPr/>
        </p:nvSpPr>
        <p:spPr>
          <a:xfrm>
            <a:off x="4490330" y="445223"/>
            <a:ext cx="9612687" cy="6001643"/>
          </a:xfrm>
          <a:prstGeom prst="rect">
            <a:avLst/>
          </a:prstGeom>
          <a:noFill/>
        </p:spPr>
        <p:txBody>
          <a:bodyPr wrap="square" rtlCol="1">
            <a:spAutoFit/>
          </a:bodyPr>
          <a:lstStyle/>
          <a:p>
            <a:pPr algn="ctr"/>
            <a:r>
              <a:rPr lang="ar-SA" sz="9600" dirty="0">
                <a:solidFill>
                  <a:srgbClr val="EDFBFC"/>
                </a:solidFill>
              </a:rPr>
              <a:t>شكرا </a:t>
            </a:r>
          </a:p>
          <a:p>
            <a:pPr algn="ctr"/>
            <a:r>
              <a:rPr lang="ar-SA" sz="9600" dirty="0">
                <a:solidFill>
                  <a:srgbClr val="EDFBFC"/>
                </a:solidFill>
              </a:rPr>
              <a:t>      لحسن </a:t>
            </a:r>
          </a:p>
          <a:p>
            <a:pPr algn="ctr"/>
            <a:r>
              <a:rPr lang="ar-SA" sz="9600" dirty="0">
                <a:solidFill>
                  <a:srgbClr val="EDFBFC"/>
                </a:solidFill>
              </a:rPr>
              <a:t>               </a:t>
            </a:r>
            <a:r>
              <a:rPr lang="ar-SA" sz="9600" dirty="0" smtClean="0">
                <a:solidFill>
                  <a:srgbClr val="EDFBFC"/>
                </a:solidFill>
              </a:rPr>
              <a:t>استماعكم</a:t>
            </a:r>
            <a:endParaRPr lang="en-US" sz="9600" dirty="0" smtClean="0">
              <a:solidFill>
                <a:srgbClr val="EDFBFC"/>
              </a:solidFill>
            </a:endParaRPr>
          </a:p>
          <a:p>
            <a:pPr algn="ctr"/>
            <a:r>
              <a:rPr lang="ar-SA" sz="9600" dirty="0" smtClean="0">
                <a:solidFill>
                  <a:srgbClr val="EDFBFC"/>
                </a:solidFill>
              </a:rPr>
              <a:t>		 هل لديكم أسئلة؟</a:t>
            </a:r>
            <a:endParaRPr lang="ar-SA" sz="9600" dirty="0">
              <a:solidFill>
                <a:srgbClr val="EDFBFC"/>
              </a:solidFill>
            </a:endParaRPr>
          </a:p>
        </p:txBody>
      </p:sp>
    </p:spTree>
    <p:extLst>
      <p:ext uri="{BB962C8B-B14F-4D97-AF65-F5344CB8AC3E}">
        <p14:creationId xmlns:p14="http://schemas.microsoft.com/office/powerpoint/2010/main" val="593142606"/>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ircle(in)">
                                      <p:cBhvr>
                                        <p:cTn id="7"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749</TotalTime>
  <Words>458</Words>
  <Application>Microsoft Office PowerPoint</Application>
  <PresentationFormat>Widescreen</PresentationFormat>
  <Paragraphs>91</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Aldhabi</vt:lpstr>
      <vt:lpstr>Andalus</vt:lpstr>
      <vt:lpstr>Arial</vt:lpstr>
      <vt:lpstr>Calibri</vt:lpstr>
      <vt:lpstr>Calibri Light</vt:lpstr>
      <vt:lpstr>Times New Roman</vt:lpstr>
      <vt:lpstr>نسق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creator>Mohammed Al-Naboud;احمد عبدالله البحار</dc:creator>
  <cp:lastModifiedBy>احمد عبدالله البحار</cp:lastModifiedBy>
  <cp:revision>13</cp:revision>
  <dcterms:created xsi:type="dcterms:W3CDTF">2022-05-10T00:41:21Z</dcterms:created>
  <dcterms:modified xsi:type="dcterms:W3CDTF">2022-05-17T13:09:37Z</dcterms:modified>
</cp:coreProperties>
</file>